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98" r:id="rId50"/>
    <p:sldId id="282" r:id="rId29"/>
    <p:sldId id="283" r:id="rId30"/>
    <p:sldId id="297" r:id="rId49"/>
    <p:sldId id="284" r:id="rId31"/>
    <p:sldId id="285" r:id="rId32"/>
    <p:sldId id="296" r:id="rId48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notesMasterIdLst>
    <p:notesMasterId r:id="rId44"/>
  </p:notesMasterIdLst>
  <p:sldSz cx="12192000" cy="6858000" type="custom"/>
  <p:notesSz cx="12192000" cy="6858000"/>
  <p:embeddedFontLst>
    <p:embeddedFont>
      <p:font typeface="MiSans" charset="-122" pitchFamily="34"/>
      <p:regular r:id="rId4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font" Target="fonts/font1.fntdata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ableStyles" Target="tableStyles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：今天我不想给大家讲一个AI工具教程，因为我自己也还在学。我更想讲的是，一个46岁、工作20多年的人，为什么突然开始折腾AI。以及折腾到现在，我发现AI真正改变我的，可能并不是某一个工具，而是我开始重新看问题、看工作，甚至重新看自己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我没有AI科班背景，也没准备把自己包装成AI专家。这一两年AI发展得太快，但真正让我产生兴趣的，不是它能写诗画画，而是——它能不能改变一个普通职场人做事情的方式？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过去经常有这样的经历：看到一个问题，我大概知道怎么解决；看到一个产品，我也能判断它为什么这么设计。但要真正做出来，需要技术人员、产品人员、开发周期、预算。所以很多想法最后变成一句"以后有机会可以做"——这个"以后"，有时候就是永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我不是突然变成程序员了，而是AI把很多原来必须跨越的技术门槛降低了。我开始能把脑子里的东西，快速做成一个可以看的东西。这对我这种工作20多年的人，冲击其实挺大的。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深色转折页，讲完停顿。我开始疯狂做东西：工作台、门店诊断、健康AI、GEO、各种小应用——做了十几个应用。但是，没有真正变现。这句话是全场第一个重要转折。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AI更新太快了，你今天刚学会一个工具，明天可能又出来一个新的。所以后来我给自己按了一个暂停键：先别学工具，先搞清楚自己缺什么。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我的AI总开关：先搞清楚我缺什么，再决定让AI干什么。四象限逐个解释：①我懂AI也懂，让AI执行；②我不懂AI懂，让AI当老师；③都不懂，和AI共创验证；④我懂AI不懂，把我的经验、现场信息、判断教给AI。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AI不是只有一个角色。缺知识找老师，缺思路找教练，需要挑战找辩手，缺执行找助手，缺技术找程序员，缺产品设计找产品经理，AI不懂现场我来教它。角色由人决定，不是由AI自己决定。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我后来发现，一个好问题有时候比一个漂亮答案重要得多。所以我现在经常这样用AI：先别回答我，先问我一个最可能改变答案的问题。流程：AI提问→我回答→AI继续追问→问题逐渐清晰→最后才给方案。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我还有一个特别喜欢的用法：让AI跟我唱反调。AI的反对不一定是真理，但它能帮我看到原来没看到的东西。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我越来越喜欢问AI的一句话：我漏了什么？五个场景逐个问。核心：人最难发现的，往往是自己没想到的东西。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三章：我形成的AI工作方式。第一种是陪学式学习：看十遍，不如自己讲一遍。流程：我先用自己的话讲→AI找漏洞→我重新讲→AI继续追问→AI出题→真实问题验证。三个层次：普通人能不能讲明白；专业原则边界案例懂不懂；能不能解决真实问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我的七式AI问题，这一页不要全部念，作为视觉总览一带而过，挑一两条现场举例即可。页脚强调：一次用1-2个就够了。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四章：第一性原理。我现在解决AI卡住的方法：第三次还解决不了，我就不用第四种方法了，而是重新定义目标、重新梳理全过程、找到真正瓶颈、再决定AI做什么。不是继续解决"卡住的问题"，而是检查"为什么会卡在这里"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这其实和我们工作一模一样：当局者迷，旁观者清。问题出现→拼命解决→越解决越复杂→停下来→拉高一个维度→重新看整件事情。有时候问题不是太难，而是我们站得太低。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第五章：AI赚钱的真相。我最近听到一个很有启发的观点：真正能跑通的AI生意，往往不是"AI生意"，而是原来的生意+AI提效。公式：行业经验+客户资源+商业模式+AI提效=更高效率。而不是：学会AI→自动赚钱。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普通人没有行业资源怎么办？从一个小生意开始。三步：①找参考——看到一个人内容不火却持续做，问他到底靠什么赚钱；②真调研——不要只看内容，把产品买下来，找潜在用户问你会不会买、为什么；③AI降低执行成本——PPT、图片、文案、网页、翻译、视频、自动化都交给AI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但是我发现一个尴尬的问题：我知道商业逻辑，为什么自己却一直没跑通？左边是我其实知道的商业闭环，右边是我过去做AI的实际路径——我感兴趣、觉得有意思、做一个功能、做出来、结束。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终于发现了自己的问题：我一直站在"我想做什么"的角度，而不是"用户到底需要什么"。四组过去/现在对比逐条讲：能不能做→有没有这个问题；功能很酷→解决了什么完整问题；我能做出来→用户愿不愿意用；做一个功能→解决一个问题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功能和产品完全不是一回事。功能：帮你生成一个PPT。产品：我知道你是谁、你遇到了什么问题、你为什么解决不了、我给你完整方案、我陪你执行、我知道结果怎么样。核心一句：功能解决一个动作，产品解决一段完整的问题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所以我现在开始换一种方式：从自己的真实工作开始。不是"我想做一个AI产品"，而是"我现在到底遇到了什么问题"。于是出现四个项目：工作台（工作效率+组织知识）、门店诊断（老板不知道自己真正的问题是什么）、健康AI（长期数据看不懂、不会跟踪）、GEO（AI到底如何认识一个人和一个品牌）。这一页完成从"兴趣驱动"到"真实需求驱动"的转身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七章：我开始真正做"产品"。项目一部门工作台，从自己的工作开始。真实问题：信息散落、状态不清、不断追问、员工不断汇报、问题容易遗漏。所以做：今天要盯的N件事、A级问题池（不超过3个）、阶段/摘要/问题/任务/日历、发起人和当前负责人双向可见、发起人决定关闭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后来发现一个细节非常重要：错误的状态比少一个功能更危险。比如问题没解决，系统显示"已完成"，那么后续判断全部可能错误。所以系统必须关注：谁发起、谁负责、当前状态、谁判断结束、线上线下一致吗。核心：AI产品不是功能越多越好，而是状态必须真实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深色停顿页。我原本是在做一个管理工具。（停顿）后来我发现，我真正想留下的不是数据。而是公司的记忆。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员工每天产生的其实是隐藏资产。表面上是"客户问题已解决"，但真正有价值的是右边这串问题：客户为什么不满意、谁帮忙解决的、当时怎么沟通、哪个方法有效、哪个坑以后不能再踩、哪个资源以后还能用。所以：员工产生工作记录，AI提炼组织知识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公司的记忆怎么形成？走一遍流程：工作→记录→AI提取→经验→方法→组织知识→公司自己的长期记忆。收尾金句：企业要留住人才，也要留住人才创造出来的知识。这也是后面"经验"主题的重要铺垫。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项目二：门店AI诊断。做下来发现最难的不是解决问题，而是先找到问题。可能的问题是获客、转化、产品、价格、评价、复购、内容、私域——而不是张口就来"老板你应该做小红书"。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我的诊断链路：数据→证据→诊断→优先级→解决方案→行动。三条规则：没数据等于未评估、没证据不打分、不确定就明确告诉用户。核心：宁可报告不丰满，不要报告不可信。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八章：项目三，5年体检报告。以前每年看一次，看到异常就放下，第二年重新看；现在全部放一起看趋势、看重复出现的问题、整理需要进一步咨询医生的问题、做长期跟踪。核心：数据堆在一起，不等于看懂了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我越来越相信一个公式：数据不是终点，数据→证据→诊断→优先级→行动。信息不是终点，行动才是。备注边界：AI帮助整理和理解信息，不替代专业诊断和治疗。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九章：GEO实验。朋友开餐厅问"怎么才能让别人通过AI找到我？"我第一反应是"是不是给每个模型灌数据？"后来：问AI→自己搜索→豆包→Kimi→看公开信息→找到过去的媒体采访。于是产生真正的问题：AI到底是怎么认识一个人的？所以——我不是因为知道答案才研究GEO，恰恰是因为我不知道答案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十章：AI焦虑。我也会焦虑：AI变化这么快，我会不会永远追不上？焦虑来源是新模型、新工具、新Agent、新Skill、新方法。然后我发现，我看到的是算法筛选后的世界——平台天天给你推最厉害的人、最漂亮的案例、最快的结果，于是产生"是不是所有人都会了"的错觉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现在怎么看AI焦虑，三个判断：①不要把互联网的顶尖样本当成现实世界的平均水平；②企业真正落地AI没有想象中那么快，因为技术之外还有流程、管理、利益、组织、员工心理——比如员工可能担心"我效率提高以后是不是工作更多"；③不需要和最厉害的人比，只要比身边的人多学一点、多用一点，就已经在发生变化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十一章：AI让我重新理解"经验"。工作20多年，我以前以为自己最大的资产叫经验。但AI让我重新问：什么叫经验？不是"我干了20年"，而是这串追问：为什么这样做、什么情况下成立、什么情况下不成立、有没有例外、什么信号出现时应该改变、能不能教给别人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经验其实是一连串判断。比如"这个项目该不该做"，背后可能是：用户是谁、有没有真实需求、谁支持、谁反对、谁承担风险、资源够不够、时机对不对、出问题怎么办。所以：经验不是"我做过"，经验是"我知道为什么这样判断"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经验怎么变成真正的能力？左边流程：经历→复盘→提炼→原则→条件→边界→案例→能教给别人。右边连接工作台：个人经验→团队经验→组织知识→组织能力。核心：没有被重新整理的经验可能慢慢变成负担，被提炼出来的经验才可能真正变成能力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第十二章：我和AI到底是什么关系。AI不是老板，也不是万能答案机器。它可以教我、问我、反驳我、帮我分析、写、做、编程、复盘。但是：方向由我决定、经验由我提供、结果由我判断、责任由我承担。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全场总结图，语速放慢走一遍：过去是学AI→玩AI→做功能→很兴奋→为什么没人付钱；反思是用户是谁→真正痛点→完整问题→愿不愿意付钱；现在是真实工作→真实问题→AI辅助→做出原型→验证→迭代→做成真正有价值的东西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深色闭环页。我最后终于明白，我为什么喜欢折腾AI：因为AI让我重新拥有了一种能力——把想法变成现实。以前我有经验，但很多东西做不出来；现在AI让我可以先做出来，做出来以后，我又可以重新审视：这个东西到底有没有价值？这是整个故事的闭环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最后一页，不放项目不放方法论。语速最慢，每句停顿：先别急着学AI。（停）先找一个你真正想解决的问题。（停）然后，和AI一起试。（停）AI不是替我变聪明，而是让我以前很多只能想一想的东西，真的有机会做出来。最后落"46岁，AI让我重新发现自己"，停住，进入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-block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7620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一场关于问题、产品与重新认识自己的对谈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1651000"/>
            <a:ext cx="7620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7800" noProof="1" b="1">
                <a:solidFill>
                  <a:srgbClr val="2E241B"/>
                </a:solidFill>
                <a:latin typeface="MiSans"/>
                <a:ea typeface="MiSans"/>
              </a:rPr>
              <a:t>46岁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3800" noProof="1" b="1">
                <a:solidFill>
                  <a:srgbClr val="2E241B"/>
                </a:solidFill>
                <a:latin typeface="MiSans"/>
                <a:ea typeface="MiSans"/>
              </a:rPr>
              <a:t>我为什么开始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800" noProof="1" b="1">
                <a:solidFill>
                  <a:srgbClr val="B85C1F"/>
                </a:solidFill>
                <a:latin typeface="MiSans"/>
                <a:ea typeface="MiSans"/>
              </a:rPr>
              <a:t>和AI一起折腾</a:t>
            </a:r>
            <a:endParaRPr lang="en-US" sz="16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49784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从学AI、做AI，到重新认识问题、产品和自己的经验</a:t>
            </a:r>
            <a:endParaRPr lang="en-US" sz="1500" noProof="1"/>
          </a:p>
        </p:txBody>
      </p:sp>
      <p:sp>
        <p:nvSpPr>
          <p:cNvPr id="6" name="speaker"/>
          <p:cNvSpPr txBox="1"/>
          <p:nvPr/>
        </p:nvSpPr>
        <p:spPr>
          <a:xfrm>
            <a:off x="762000" y="60706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廖志强 · 主讲 60 分钟 + 交流 15 分钟</a:t>
            </a:r>
            <a:endParaRPr lang="en-US" sz="1100" noProof="1"/>
          </a:p>
        </p:txBody>
      </p:sp>
      <p:sp>
        <p:nvSpPr>
          <p:cNvPr id="7" name="block-quote"/>
          <p:cNvSpPr txBox="1"/>
          <p:nvPr/>
        </p:nvSpPr>
        <p:spPr>
          <a:xfrm>
            <a:off x="9042400" y="5334000"/>
            <a:ext cx="279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46岁，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AI让我重新发现自己。</a:t>
            </a: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842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84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第一章 · 我为什么开始折腾AI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11684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E241B"/>
                </a:solidFill>
                <a:latin typeface="MiSans"/>
                <a:ea typeface="MiSans"/>
              </a:rPr>
              <a:t>我不是AI专家</a:t>
            </a:r>
            <a:endParaRPr lang="en-US" sz="3400" noProof="1"/>
          </a:p>
        </p:txBody>
      </p:sp>
      <p:sp>
        <p:nvSpPr>
          <p:cNvPr id="5" name="three"/>
          <p:cNvSpPr txBox="1"/>
          <p:nvPr/>
        </p:nvSpPr>
        <p:spPr>
          <a:xfrm>
            <a:off x="660400" y="2286000"/>
            <a:ext cx="1066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国企工作20多年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技术 → 管理 → 业务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46岁，开始认真折腾AI</a:t>
            </a:r>
            <a:endParaRPr lang="en-US" sz="16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482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660400" y="5181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我只是一个正在用AI解决真实问题的人。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第一章 · 我为什么开始折腾AI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经常有很多想法，却做不出来</a:t>
            </a:r>
            <a:endParaRPr lang="en-US" sz="3000" noProof="1"/>
          </a:p>
        </p:txBody>
      </p:sp>
      <p:sp>
        <p:nvSpPr>
          <p:cNvPr id="5" name="chain"/>
          <p:cNvSpPr txBox="1"/>
          <p:nvPr/>
        </p:nvSpPr>
        <p:spPr>
          <a:xfrm>
            <a:off x="762000" y="1905000"/>
            <a:ext cx="6096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想法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找技术人员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沟通需求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排期、准备资金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开发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修改</a:t>
            </a:r>
            <a:endParaRPr lang="en-US" sz="16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上线</a:t>
            </a:r>
            <a:endParaRPr lang="en-US" sz="1600" noProof="1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可能已经没有兴趣了</a:t>
            </a:r>
            <a:endParaRPr lang="en-US" sz="1600" noProof="1"/>
          </a:p>
        </p:txBody>
      </p:sp>
      <p:sp>
        <p:nvSpPr>
          <p:cNvPr id="6" name="vline"/>
          <p:cNvSpPr/>
          <p:nvPr>
            <p:extLst>
              <p:ext uri="{F5677B7D-0D2A-4D9B-9A5C-6D8D7D0E5A5D}">
                <pptd:line encoding="base64url">eyJ2aWV3Qm94IjpbMiwyOTBdLCJwb2ludHMiOiIxLDAgMSwyOTAiLCJjdXJ2ZSI6InNoYXJwIn0</pptd:line>
              </p:ext>
            </p:extLst>
          </p:nvPr>
        </p:nvSpPr>
        <p:spPr>
          <a:xfrm>
            <a:off x="7239000" y="1905000"/>
            <a:ext cx="25400" cy="3683000"/>
          </a:xfrm>
          <a:custGeom>
            <a:avLst/>
            <a:gdLst/>
            <a:ahLst/>
            <a:cxnLst/>
            <a:rect l="l" t="t" r="r" b="b"/>
            <a:pathLst>
              <a:path w="2" h="290">
                <a:moveTo>
                  <a:pt x="1" y="0"/>
                </a:moveTo>
                <a:lnTo>
                  <a:pt x="1" y="29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quote"/>
          <p:cNvSpPr txBox="1"/>
          <p:nvPr/>
        </p:nvSpPr>
        <p:spPr>
          <a:xfrm>
            <a:off x="7747000" y="2413000"/>
            <a:ext cx="3810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「以后有机会可以做。」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这个「以后」，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有时候就是永远。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第一章 · 我为什么开始折腾AI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AI让我第一次觉得：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想法和实现之间，没那么远了</a:t>
            </a:r>
            <a:endParaRPr lang="en-US" sz="1600" noProof="1"/>
          </a:p>
        </p:txBody>
      </p:sp>
      <p:sp>
        <p:nvSpPr>
          <p:cNvPr id="5" name="before-label"/>
          <p:cNvSpPr txBox="1"/>
          <p:nvPr/>
        </p:nvSpPr>
        <p:spPr>
          <a:xfrm>
            <a:off x="762000" y="2235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以前</a:t>
            </a:r>
            <a:endParaRPr lang="en-US" sz="1400" noProof="1"/>
          </a:p>
        </p:txBody>
      </p:sp>
      <p:sp>
        <p:nvSpPr>
          <p:cNvPr id="6" name="before"/>
          <p:cNvSpPr txBox="1"/>
          <p:nvPr/>
        </p:nvSpPr>
        <p:spPr>
          <a:xfrm>
            <a:off x="762000" y="2616200"/>
            <a:ext cx="558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想法 → 找人 → 沟通 → 开发</a:t>
            </a:r>
            <a:endParaRPr lang="en-US" sz="1700" noProof="1"/>
          </a:p>
        </p:txBody>
      </p:sp>
      <p:sp>
        <p:nvSpPr>
          <p:cNvPr id="7" name="after-label"/>
          <p:cNvSpPr txBox="1"/>
          <p:nvPr/>
        </p:nvSpPr>
        <p:spPr>
          <a:xfrm>
            <a:off x="762000" y="3327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现在</a:t>
            </a:r>
            <a:endParaRPr lang="en-US" sz="1400" noProof="1"/>
          </a:p>
        </p:txBody>
      </p:sp>
      <p:sp>
        <p:nvSpPr>
          <p:cNvPr id="8" name="after"/>
          <p:cNvSpPr txBox="1"/>
          <p:nvPr/>
        </p:nvSpPr>
        <p:spPr>
          <a:xfrm>
            <a:off x="762000" y="3708400"/>
            <a:ext cx="635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想法 → AI → 原型 → 验证 → 修改</a:t>
            </a:r>
            <a:endParaRPr lang="en-US" sz="1900" noProof="1"/>
          </a:p>
        </p:txBody>
      </p:sp>
      <p:sp>
        <p:nvSpPr>
          <p:cNvPr id="9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4648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0" name="punch"/>
          <p:cNvSpPr txBox="1"/>
          <p:nvPr/>
        </p:nvSpPr>
        <p:spPr>
          <a:xfrm>
            <a:off x="762000" y="49530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500" noProof="1" b="1">
                <a:solidFill>
                  <a:srgbClr val="2E241B"/>
                </a:solidFill>
                <a:latin typeface="MiSans"/>
                <a:ea typeface="MiSans"/>
              </a:rPr>
              <a:t>以前限制我的，很多时候不是没想法，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2500" noProof="1" b="1">
                <a:solidFill>
                  <a:srgbClr val="B85C1F"/>
                </a:solidFill>
                <a:latin typeface="MiSans"/>
                <a:ea typeface="MiSans"/>
              </a:rPr>
              <a:t>而是实现想法的能力。</a:t>
            </a:r>
            <a:endParaRPr lang="en-US" sz="160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635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FAF4EA">
                    <a:alpha val="60000"/>
                  </a:srgbClr>
                </a:solidFill>
                <a:latin typeface="MiSans"/>
                <a:ea typeface="MiSans"/>
              </a:rPr>
              <a:t>第一章 · 但很快，我又掉进了另一个坑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1270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FAF4EA"/>
                </a:solidFill>
                <a:latin typeface="MiSans"/>
                <a:ea typeface="MiSans"/>
              </a:rPr>
              <a:t>我开始疯狂做东西</a:t>
            </a:r>
            <a:endParaRPr lang="en-US" sz="1600" noProof="1"/>
          </a:p>
        </p:txBody>
      </p:sp>
      <p:sp>
        <p:nvSpPr>
          <p:cNvPr id="4" name="list"/>
          <p:cNvSpPr txBox="1"/>
          <p:nvPr/>
        </p:nvSpPr>
        <p:spPr>
          <a:xfrm>
            <a:off x="812800" y="2159000"/>
            <a:ext cx="1054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工作台　·　门店诊断　·　健康AI　·　GEO　·　各种小应用</a:t>
            </a:r>
            <a:endParaRPr lang="en-US" sz="1700" noProof="1"/>
          </a:p>
        </p:txBody>
      </p:sp>
      <p:sp>
        <p:nvSpPr>
          <p:cNvPr id="5" name="big"/>
          <p:cNvSpPr txBox="1"/>
          <p:nvPr/>
        </p:nvSpPr>
        <p:spPr>
          <a:xfrm>
            <a:off x="762000" y="3175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FAF4EA"/>
                </a:solidFill>
                <a:latin typeface="MiSans"/>
                <a:ea typeface="MiSans"/>
              </a:rPr>
              <a:t>做了十几个应用。</a:t>
            </a:r>
            <a:endParaRPr lang="en-US" sz="1600" noProof="1"/>
          </a:p>
        </p:txBody>
      </p:sp>
      <p:sp>
        <p:nvSpPr>
          <p:cNvPr id="6" name="but"/>
          <p:cNvSpPr txBox="1"/>
          <p:nvPr/>
        </p:nvSpPr>
        <p:spPr>
          <a:xfrm>
            <a:off x="762000" y="4318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B85C1F"/>
                </a:solidFill>
                <a:latin typeface="MiSans"/>
                <a:ea typeface="MiSans"/>
              </a:rPr>
              <a:t>但是，没有真正变现。</a:t>
            </a:r>
            <a:endParaRPr lang="en-US" sz="1600" noProof="1"/>
          </a:p>
        </p:txBody>
      </p:sp>
      <p:sp>
        <p:nvSpPr>
          <p:cNvPr id="7" name="tail"/>
          <p:cNvSpPr txBox="1"/>
          <p:nvPr/>
        </p:nvSpPr>
        <p:spPr>
          <a:xfrm>
            <a:off x="812800" y="57150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endParaRPr lang="en-US" sz="13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我也经历过「AI学习焦虑」</a:t>
            </a:r>
            <a:endParaRPr lang="en-US" sz="3000" noProof="1"/>
          </a:p>
        </p:txBody>
      </p:sp>
      <p:sp>
        <p:nvSpPr>
          <p:cNvPr id="5" name="buzz"/>
          <p:cNvSpPr txBox="1"/>
          <p:nvPr/>
        </p:nvSpPr>
        <p:spPr>
          <a:xfrm>
            <a:off x="762000" y="1905000"/>
            <a:ext cx="1066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8C7B6B"/>
                </a:solidFill>
                <a:latin typeface="MiSans"/>
                <a:ea typeface="MiSans"/>
              </a:rPr>
              <a:t>新模型　·　Prompt　·　Agent　·　工作流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8C7B6B"/>
                </a:solidFill>
                <a:latin typeface="MiSans"/>
                <a:ea typeface="MiSans"/>
              </a:rPr>
              <a:t>Skill　·　MCP　·　视频教程　·　各种AI工具</a:t>
            </a:r>
            <a:endParaRPr lang="en-US" sz="1800" noProof="1"/>
          </a:p>
        </p:txBody>
      </p:sp>
      <p:sp>
        <p:nvSpPr>
          <p:cNvPr id="6" name="state"/>
          <p:cNvSpPr txBox="1"/>
          <p:nvPr/>
        </p:nvSpPr>
        <p:spPr>
          <a:xfrm>
            <a:off x="762000" y="3683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收藏很多，学了很多，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但遇到真实问题，</a:t>
            </a: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还是不知道怎么用</a:t>
            </a: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7" name="punch"/>
          <p:cNvSpPr txBox="1"/>
          <p:nvPr/>
        </p:nvSpPr>
        <p:spPr>
          <a:xfrm>
            <a:off x="762000" y="5461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先别学工具，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先搞清楚自己缺什么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06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我的AI总开关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先搞清楚我缺什么，再决定让AI干什么</a:t>
            </a:r>
            <a:endParaRPr lang="en-US" sz="2800" noProof="1"/>
          </a:p>
        </p:txBody>
      </p:sp>
      <p:sp>
        <p:nvSpPr>
          <p:cNvPr id="5" name="axis-v"/>
          <p:cNvSpPr/>
          <p:nvPr>
            <p:extLst>
              <p:ext uri="{F5677B7D-0D2A-4D9B-9A5C-6D8D7D0E5A5D}">
                <pptd:line encoding="base64url">eyJ2aWV3Qm94IjpbNCwzMDBdLCJwb2ludHMiOiIyLDAgMiwzMDAiLCJjdXJ2ZSI6InNoYXJwIn0</pptd:line>
              </p:ext>
            </p:extLst>
          </p:nvPr>
        </p:nvSpPr>
        <p:spPr>
          <a:xfrm>
            <a:off x="6070600" y="1778000"/>
            <a:ext cx="50800" cy="3810000"/>
          </a:xfrm>
          <a:custGeom>
            <a:avLst/>
            <a:gdLst/>
            <a:ahLst/>
            <a:cxnLst/>
            <a:rect l="l" t="t" r="r" b="b"/>
            <a:pathLst>
              <a:path w="4" h="300">
                <a:moveTo>
                  <a:pt x="2" y="0"/>
                </a:moveTo>
                <a:lnTo>
                  <a:pt x="2" y="300"/>
                </a:lnTo>
              </a:path>
            </a:pathLst>
          </a:custGeom>
          <a:noFill/>
          <a:ln w="25400">
            <a:solidFill>
              <a:srgbClr val="2E241B"/>
            </a:solidFill>
          </a:ln>
        </p:spPr>
      </p:sp>
      <p:sp>
        <p:nvSpPr>
          <p:cNvPr id="6" name="axis-h"/>
          <p:cNvSpPr/>
          <p:nvPr>
            <p:extLst>
              <p:ext uri="{F5677B7D-0D2A-4D9B-9A5C-6D8D7D0E5A5D}">
                <pptd:line encoding="base64url">eyJ2aWV3Qm94IjpbNjAwLDRdLCJwb2ludHMiOiIwLDIgNjAwLDIiLCJjdXJ2ZSI6InNoYXJwIn0</pptd:line>
              </p:ext>
            </p:extLst>
          </p:nvPr>
        </p:nvSpPr>
        <p:spPr>
          <a:xfrm>
            <a:off x="2286000" y="3657600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600" h="4">
                <a:moveTo>
                  <a:pt x="0" y="2"/>
                </a:moveTo>
                <a:lnTo>
                  <a:pt x="600" y="2"/>
                </a:lnTo>
              </a:path>
            </a:pathLst>
          </a:custGeom>
          <a:noFill/>
          <a:ln w="25400">
            <a:solidFill>
              <a:srgbClr val="2E241B"/>
            </a:solidFill>
          </a:ln>
        </p:spPr>
      </p:sp>
      <p:sp>
        <p:nvSpPr>
          <p:cNvPr id="7" name="lab-top"/>
          <p:cNvSpPr txBox="1"/>
          <p:nvPr/>
        </p:nvSpPr>
        <p:spPr>
          <a:xfrm>
            <a:off x="5689600" y="1473200"/>
            <a:ext cx="81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我懂</a:t>
            </a:r>
            <a:endParaRPr lang="en-US" sz="1400" noProof="1"/>
          </a:p>
        </p:txBody>
      </p:sp>
      <p:sp>
        <p:nvSpPr>
          <p:cNvPr id="8" name="lab-bottom"/>
          <p:cNvSpPr txBox="1"/>
          <p:nvPr/>
        </p:nvSpPr>
        <p:spPr>
          <a:xfrm>
            <a:off x="5588000" y="56642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我不懂</a:t>
            </a:r>
            <a:endParaRPr lang="en-US" sz="1400" noProof="1"/>
          </a:p>
        </p:txBody>
      </p:sp>
      <p:sp>
        <p:nvSpPr>
          <p:cNvPr id="9" name="lab-left"/>
          <p:cNvSpPr txBox="1"/>
          <p:nvPr/>
        </p:nvSpPr>
        <p:spPr>
          <a:xfrm>
            <a:off x="1473200" y="3530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AI懂</a:t>
            </a:r>
            <a:endParaRPr lang="en-US" sz="1400" noProof="1"/>
          </a:p>
        </p:txBody>
      </p:sp>
      <p:sp>
        <p:nvSpPr>
          <p:cNvPr id="10" name="lab-right"/>
          <p:cNvSpPr txBox="1"/>
          <p:nvPr/>
        </p:nvSpPr>
        <p:spPr>
          <a:xfrm>
            <a:off x="9956800" y="3530600"/>
            <a:ext cx="96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E241B"/>
                </a:solidFill>
                <a:latin typeface="MiSans"/>
                <a:ea typeface="MiSans"/>
              </a:rPr>
              <a:t>AI不懂</a:t>
            </a:r>
            <a:endParaRPr lang="en-US" sz="1400" noProof="1"/>
          </a:p>
        </p:txBody>
      </p:sp>
      <p:sp>
        <p:nvSpPr>
          <p:cNvPr id="11" name="q1"/>
          <p:cNvSpPr txBox="1"/>
          <p:nvPr/>
        </p:nvSpPr>
        <p:spPr>
          <a:xfrm>
            <a:off x="2540000" y="2159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① 交给AI做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让AI执行</a:t>
            </a:r>
            <a:endParaRPr lang="en-US" sz="1600" noProof="1"/>
          </a:p>
        </p:txBody>
      </p:sp>
      <p:sp>
        <p:nvSpPr>
          <p:cNvPr id="12" name="q2"/>
          <p:cNvSpPr txBox="1"/>
          <p:nvPr/>
        </p:nvSpPr>
        <p:spPr>
          <a:xfrm>
            <a:off x="6477000" y="2159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④ 我教AI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把经验、现场、判断教给AI</a:t>
            </a:r>
            <a:endParaRPr lang="en-US" sz="1600" noProof="1"/>
          </a:p>
        </p:txBody>
      </p:sp>
      <p:sp>
        <p:nvSpPr>
          <p:cNvPr id="13" name="q3"/>
          <p:cNvSpPr txBox="1"/>
          <p:nvPr/>
        </p:nvSpPr>
        <p:spPr>
          <a:xfrm>
            <a:off x="2540000" y="4191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② 向AI学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让AI当老师</a:t>
            </a:r>
            <a:endParaRPr lang="en-US" sz="1600" noProof="1"/>
          </a:p>
        </p:txBody>
      </p:sp>
      <p:sp>
        <p:nvSpPr>
          <p:cNvPr id="14" name="q4"/>
          <p:cNvSpPr txBox="1"/>
          <p:nvPr/>
        </p:nvSpPr>
        <p:spPr>
          <a:xfrm>
            <a:off x="6477000" y="41910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③ 和AI共创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8C7B6B"/>
                </a:solidFill>
                <a:latin typeface="MiSans"/>
                <a:ea typeface="MiSans"/>
              </a:rPr>
              <a:t>一起想、一起验证</a:t>
            </a:r>
            <a:endParaRPr lang="en-US" sz="160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07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我现在不会只问AI：「帮我做一下」</a:t>
            </a:r>
            <a:endParaRPr lang="en-US" sz="2800" noProof="1"/>
          </a:p>
        </p:txBody>
      </p:sp>
      <p:sp>
        <p:nvSpPr>
          <p:cNvPr id="5" name="rows"/>
          <p:cNvSpPr txBox="1"/>
          <p:nvPr/>
        </p:nvSpPr>
        <p:spPr>
          <a:xfrm>
            <a:off x="762000" y="1778000"/>
            <a:ext cx="8128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缺知识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老师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缺思路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导师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需要挑战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辩手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缺执行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助手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缺技术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程序员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缺产品管理　→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产品经理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AI不懂现场　→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　我来教AI</a:t>
            </a:r>
            <a:endParaRPr lang="en-US" sz="16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62000" y="5664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角色由人决定，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不是由AI自己决定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08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635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FAF4EA">
                    <a:alpha val="60000"/>
                  </a:srgbClr>
                </a:solidFill>
                <a:latin typeface="MiSans"/>
                <a:ea typeface="MiSans"/>
              </a:rPr>
              <a:t>第二章 · 所以我现在经常这样用AI</a:t>
            </a:r>
            <a:endParaRPr lang="en-US" sz="1100" noProof="1"/>
          </a:p>
        </p:txBody>
      </p:sp>
      <p:sp>
        <p:nvSpPr>
          <p:cNvPr id="3" name="big"/>
          <p:cNvSpPr txBox="1"/>
          <p:nvPr/>
        </p:nvSpPr>
        <p:spPr>
          <a:xfrm>
            <a:off x="762000" y="1524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600" noProof="1" b="1">
                <a:solidFill>
                  <a:srgbClr val="FAF4EA"/>
                </a:solidFill>
                <a:latin typeface="MiSans"/>
                <a:ea typeface="MiSans"/>
              </a:rPr>
              <a:t>「先别回答我。」</a:t>
            </a:r>
            <a:endParaRPr lang="en-US" sz="1600" noProof="1"/>
          </a:p>
        </p:txBody>
      </p:sp>
      <p:sp>
        <p:nvSpPr>
          <p:cNvPr id="4" name="sub"/>
          <p:cNvSpPr txBox="1"/>
          <p:nvPr/>
        </p:nvSpPr>
        <p:spPr>
          <a:xfrm>
            <a:off x="812800" y="3048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先问我一个最可能改变答案的问题。</a:t>
            </a:r>
            <a:endParaRPr lang="en-US" sz="2200" noProof="1"/>
          </a:p>
        </p:txBody>
      </p:sp>
      <p:sp>
        <p:nvSpPr>
          <p:cNvPr id="5" name="flow"/>
          <p:cNvSpPr txBox="1"/>
          <p:nvPr/>
        </p:nvSpPr>
        <p:spPr>
          <a:xfrm>
            <a:off x="812800" y="4191000"/>
            <a:ext cx="1054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AI提问 → 我回答 → AI继续追问 → 问题逐渐清晰 → 最后才给方案</a:t>
            </a:r>
            <a:endParaRPr lang="en-US" sz="1600" noProof="1"/>
          </a:p>
        </p:txBody>
      </p:sp>
      <p:sp>
        <p:nvSpPr>
          <p:cNvPr id="6" name="tail"/>
          <p:cNvSpPr txBox="1"/>
          <p:nvPr/>
        </p:nvSpPr>
        <p:spPr>
          <a:xfrm>
            <a:off x="812800" y="5461000"/>
            <a:ext cx="1054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FAF4EA">
                    <a:alpha val="53333"/>
                  </a:srgbClr>
                </a:solidFill>
                <a:latin typeface="MiSans"/>
                <a:ea typeface="MiSans"/>
              </a:rPr>
              <a:t>一个好问题，有时候比一个漂亮答案重要得多。</a:t>
            </a:r>
            <a:endParaRPr lang="en-US" sz="15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让AI跟我唱反调</a:t>
            </a:r>
            <a:endParaRPr lang="en-US" sz="3000" noProof="1"/>
          </a:p>
        </p:txBody>
      </p:sp>
      <p:sp>
        <p:nvSpPr>
          <p:cNvPr id="5" name="quote"/>
          <p:cNvSpPr txBox="1"/>
          <p:nvPr/>
        </p:nvSpPr>
        <p:spPr>
          <a:xfrm>
            <a:off x="660400" y="1905000"/>
            <a:ext cx="1092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「假设我的判断是错的，你会从哪里攻击我？」</a:t>
            </a:r>
            <a:endParaRPr lang="en-US" sz="1600" noProof="1"/>
          </a:p>
        </p:txBody>
      </p:sp>
      <p:sp>
        <p:nvSpPr>
          <p:cNvPr id="6" name="flow"/>
          <p:cNvSpPr txBox="1"/>
          <p:nvPr/>
        </p:nvSpPr>
        <p:spPr>
          <a:xfrm>
            <a:off x="660400" y="3175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我的观点 → AI找最强反方 → AI攻击 → 我回应 → 重新判断</a:t>
            </a:r>
            <a:endParaRPr lang="en-US" sz="17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482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note"/>
          <p:cNvSpPr txBox="1"/>
          <p:nvPr/>
        </p:nvSpPr>
        <p:spPr>
          <a:xfrm>
            <a:off x="762000" y="5207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AI的反对不一定是真理，</a:t>
            </a:r>
            <a:endParaRPr lang="en-US" sz="1700" noProof="1"/>
          </a:p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但它能帮我看到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原来没看到的东西</a:t>
            </a: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7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11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我开始「玩AI」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398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2E241B"/>
                </a:solidFill>
                <a:latin typeface="MiSans"/>
                <a:ea typeface="MiSans"/>
              </a:rPr>
              <a:t>「我漏了什么？」</a:t>
            </a:r>
            <a:endParaRPr lang="en-US" sz="1600" noProof="1"/>
          </a:p>
        </p:txBody>
      </p:sp>
      <p:sp>
        <p:nvSpPr>
          <p:cNvPr id="5" name="col1"/>
          <p:cNvSpPr txBox="1"/>
          <p:nvPr/>
        </p:nvSpPr>
        <p:spPr>
          <a:xfrm>
            <a:off x="762000" y="22860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从用户角度，我漏了什么？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从老板角度，我漏了什么？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从执行角度，我漏了什么？</a:t>
            </a:r>
            <a:endParaRPr lang="en-US" sz="1800" noProof="1"/>
          </a:p>
        </p:txBody>
      </p:sp>
      <p:sp>
        <p:nvSpPr>
          <p:cNvPr id="6" name="col2"/>
          <p:cNvSpPr txBox="1"/>
          <p:nvPr/>
        </p:nvSpPr>
        <p:spPr>
          <a:xfrm>
            <a:off x="6477000" y="22860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从成本和风险角度，我漏了什么？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· 如果失败，最可能是哪一环？</a:t>
            </a:r>
            <a:endParaRPr lang="en-US" sz="18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207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punch"/>
          <p:cNvSpPr txBox="1"/>
          <p:nvPr/>
        </p:nvSpPr>
        <p:spPr>
          <a:xfrm>
            <a:off x="762000" y="54864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人最难发现的，往往是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自己没想到的东西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12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第三章 · 我的AI工作方式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看十遍，不如自己讲一遍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1778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我先用自己的话讲 → AI找漏洞 → 我重新讲 → AI继续追问 → AI出题 → 真实问题验证</a:t>
            </a:r>
            <a:endParaRPr lang="en-US" sz="17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2743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layers-label"/>
          <p:cNvSpPr txBox="1"/>
          <p:nvPr/>
        </p:nvSpPr>
        <p:spPr>
          <a:xfrm>
            <a:off x="660400" y="304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三个层次</a:t>
            </a:r>
            <a:endParaRPr lang="en-US" sz="1100" noProof="1"/>
          </a:p>
        </p:txBody>
      </p:sp>
      <p:sp>
        <p:nvSpPr>
          <p:cNvPr id="8" name="layers"/>
          <p:cNvSpPr txBox="1"/>
          <p:nvPr/>
        </p:nvSpPr>
        <p:spPr>
          <a:xfrm>
            <a:off x="660400" y="3454400"/>
            <a:ext cx="1066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第一层</a:t>
            </a: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　普通人能不能讲明白？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第二层</a:t>
            </a: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　专业原则、边界、案例懂不懂？</a:t>
            </a:r>
            <a:endParaRPr lang="en-US" sz="1800" noProof="1"/>
          </a:p>
          <a:p>
            <a:pPr algn="l">
              <a:lnSpc>
                <a:spcPct val="19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第三层</a:t>
            </a: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　能不能解决真实问题？</a:t>
            </a:r>
            <a:endParaRPr lang="en-US" sz="18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13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我的AI工作方式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我的「七式AI问题」</a:t>
            </a:r>
            <a:endParaRPr lang="en-US" sz="3000" noProof="1"/>
          </a:p>
        </p:txBody>
      </p:sp>
      <p:sp>
        <p:nvSpPr>
          <p:cNvPr id="5" name="col1"/>
          <p:cNvSpPr txBox="1"/>
          <p:nvPr/>
        </p:nvSpPr>
        <p:spPr>
          <a:xfrm>
            <a:off x="762000" y="1778000"/>
            <a:ext cx="5461000" cy="368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01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回答前，先问我一个最可能改变答案的问题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02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假设事情已经失败，倒推三个原因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03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先告诉我真正要解决的问题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04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先预测标准答案，再拆掉它</a:t>
            </a:r>
            <a:endParaRPr lang="en-US" sz="1600" noProof="1"/>
          </a:p>
        </p:txBody>
      </p:sp>
      <p:sp>
        <p:nvSpPr>
          <p:cNvPr id="6" name="col2"/>
          <p:cNvSpPr txBox="1"/>
          <p:nvPr/>
        </p:nvSpPr>
        <p:spPr>
          <a:xfrm>
            <a:off x="6604000" y="1778000"/>
            <a:ext cx="5080000" cy="368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05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假设我的判断是错的，什么变量能推翻？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06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把事实、判断、待验证拆开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07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如果你是我，你会怎么选？</a:t>
            </a:r>
            <a:endParaRPr lang="en-US" sz="16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588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foot"/>
          <p:cNvSpPr txBox="1"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一次用1–2个，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就够了</a:t>
            </a: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。</a:t>
            </a:r>
            <a:endParaRPr lang="en-US" sz="17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16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第二章 · 我的AI工作方式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第一性原理</a:t>
            </a:r>
            <a:endParaRPr lang="en-US" sz="16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2286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勿忘初心 → 重新梳理全过程 → 找到真正瓶颈 → 再决定AI做什么</a:t>
            </a:r>
            <a:endParaRPr lang="en-US" sz="18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355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62000" y="4064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2E241B"/>
                </a:solidFill>
                <a:latin typeface="MiSans"/>
                <a:ea typeface="MiSans"/>
              </a:rPr>
              <a:t>不是继续解决「卡住的问题」，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noProof="1" b="1">
                <a:solidFill>
                  <a:srgbClr val="B85C1F"/>
                </a:solidFill>
                <a:latin typeface="MiSans"/>
                <a:ea typeface="MiSans"/>
              </a:rPr>
              <a:t>而是检查「为什么会卡在这里」。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18</a:t>
            </a:r>
            <a:endParaRPr lang="en-U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第四章 · 第一性原理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当局者迷，旁观者清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762000" y="2032000"/>
            <a:ext cx="60960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问题出现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拼命解决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越解决越复杂</a:t>
            </a:r>
            <a:endParaRPr lang="en-US" sz="1600" noProof="1"/>
          </a:p>
          <a:p>
            <a:pPr algn="l">
              <a:lnSpc>
                <a:spcPct val="175000"/>
              </a:lnSpc>
              <a:spcBef>
                <a:spcPts val="4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↓　停下来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拉高一个维度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↓　重新看整件事情</a:t>
            </a:r>
            <a:endParaRPr lang="en-US" sz="1600" noProof="1"/>
          </a:p>
        </p:txBody>
      </p:sp>
      <p:sp>
        <p:nvSpPr>
          <p:cNvPr id="6" name="vline"/>
          <p:cNvSpPr/>
          <p:nvPr>
            <p:extLst>
              <p:ext uri="{F5677B7D-0D2A-4D9B-9A5C-6D8D7D0E5A5D}">
                <pptd:line encoding="base64url">eyJ2aWV3Qm94IjpbMiwyNTBdLCJwb2ludHMiOiIxLDAgMSwyNTAiLCJjdXJ2ZSI6InNoYXJwIn0</pptd:line>
              </p:ext>
            </p:extLst>
          </p:nvPr>
        </p:nvSpPr>
        <p:spPr>
          <a:xfrm>
            <a:off x="7239000" y="2032000"/>
            <a:ext cx="25400" cy="3175000"/>
          </a:xfrm>
          <a:custGeom>
            <a:avLst/>
            <a:gdLst/>
            <a:ahLst/>
            <a:cxnLst/>
            <a:rect l="l" t="t" r="r" b="b"/>
            <a:pathLst>
              <a:path w="2" h="250">
                <a:moveTo>
                  <a:pt x="1" y="0"/>
                </a:moveTo>
                <a:lnTo>
                  <a:pt x="1" y="25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747000" y="2540000"/>
            <a:ext cx="3810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2E241B"/>
                </a:solidFill>
                <a:latin typeface="MiSans"/>
                <a:ea typeface="MiSans"/>
              </a:rPr>
              <a:t>有时候问题不是太难，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而是我们站得太低。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19</a:t>
            </a:r>
            <a:endParaRPr lang="en-US" sz="11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第三章 · AI赚钱的真相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真正能跑通的AI生意，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往往不是「AI生意」</a:t>
            </a:r>
            <a:endParaRPr lang="en-US" sz="1600" noProof="1"/>
          </a:p>
        </p:txBody>
      </p:sp>
      <p:sp>
        <p:nvSpPr>
          <p:cNvPr id="5" name="instead"/>
          <p:cNvSpPr txBox="1"/>
          <p:nvPr/>
        </p:nvSpPr>
        <p:spPr>
          <a:xfrm>
            <a:off x="660400" y="2413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而是：原来的生意 + AI提效</a:t>
            </a:r>
            <a:endParaRPr lang="en-US" sz="2200" noProof="1"/>
          </a:p>
        </p:txBody>
      </p:sp>
      <p:sp>
        <p:nvSpPr>
          <p:cNvPr id="6" name="formula"/>
          <p:cNvSpPr txBox="1"/>
          <p:nvPr/>
        </p:nvSpPr>
        <p:spPr>
          <a:xfrm>
            <a:off x="660400" y="3556000"/>
            <a:ext cx="1092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行业经验　+　客户资源　+　商业模式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+　AI提效　＝　更高效率</a:t>
            </a:r>
            <a:endParaRPr lang="en-US" sz="1600" noProof="1"/>
          </a:p>
        </p:txBody>
      </p:sp>
      <p:sp>
        <p:nvSpPr>
          <p:cNvPr id="7" name="not"/>
          <p:cNvSpPr txBox="1"/>
          <p:nvPr/>
        </p:nvSpPr>
        <p:spPr>
          <a:xfrm>
            <a:off x="660400" y="5461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8C7B6B"/>
                </a:solidFill>
                <a:latin typeface="MiSans"/>
                <a:ea typeface="MiSans"/>
              </a:rPr>
              <a:t>而不是：</a:t>
            </a:r>
            <a:r>
              <a:rPr lang="en-US" sz="1900" noProof="1" strike="sngStrike">
                <a:solidFill>
                  <a:srgbClr val="8C7B6B"/>
                </a:solidFill>
                <a:latin typeface="MiSans"/>
                <a:ea typeface="MiSans"/>
              </a:rPr>
              <a:t>学会AI → 自动赚钱</a:t>
            </a:r>
            <a:endParaRPr lang="en-US" sz="19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21</a:t>
            </a:r>
            <a:endParaRPr lang="en-US" sz="11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第五章 · AI赚钱的真相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8C7B6B"/>
                </a:solidFill>
                <a:latin typeface="MiSans"/>
                <a:ea typeface="MiSans"/>
              </a:rPr>
              <a:t>普通人没有行业资源怎么办？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200" noProof="1" b="1">
                <a:solidFill>
                  <a:srgbClr val="2E241B"/>
                </a:solidFill>
                <a:latin typeface="MiSans"/>
                <a:ea typeface="MiSans"/>
              </a:rPr>
              <a:t>从一个「小生意」开始</a:t>
            </a:r>
            <a:endParaRPr lang="en-US" sz="1600" noProof="1"/>
          </a:p>
        </p:txBody>
      </p:sp>
      <p:sp>
        <p:nvSpPr>
          <p:cNvPr id="5" name="s1"/>
          <p:cNvSpPr txBox="1"/>
          <p:nvPr/>
        </p:nvSpPr>
        <p:spPr>
          <a:xfrm>
            <a:off x="660400" y="218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① 找参考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看到一个人：内容不火，却持续做——</a:t>
            </a: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他到底靠什么赚钱？</a:t>
            </a:r>
            <a:endParaRPr lang="en-US" sz="1600" noProof="1"/>
          </a:p>
        </p:txBody>
      </p:sp>
      <p:sp>
        <p:nvSpPr>
          <p:cNvPr id="6" name="s2"/>
          <p:cNvSpPr txBox="1"/>
          <p:nvPr/>
        </p:nvSpPr>
        <p:spPr>
          <a:xfrm>
            <a:off x="660400" y="345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② MVP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把身边的亲戚朋友来体验你的产品，他们愿不愿意用起来，有没有反馈，找潜在用户问：</a:t>
            </a:r>
            <a:r>
              <a:rPr lang="en-US" sz="1600" noProof="1" b="1">
                <a:solidFill>
                  <a:srgbClr val="2E241B"/>
                </a:solidFill>
                <a:latin typeface="MiSans"/>
                <a:ea typeface="MiSans"/>
              </a:rPr>
              <a:t>你会不会买？为什么？</a:t>
            </a:r>
            <a:endParaRPr lang="en-US" sz="1600" noProof="1"/>
          </a:p>
        </p:txBody>
      </p:sp>
      <p:sp>
        <p:nvSpPr>
          <p:cNvPr id="7" name="s3"/>
          <p:cNvSpPr txBox="1"/>
          <p:nvPr/>
        </p:nvSpPr>
        <p:spPr>
          <a:xfrm>
            <a:off x="660400" y="472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B85C1F"/>
                </a:solidFill>
                <a:latin typeface="MiSans"/>
                <a:ea typeface="MiSans"/>
              </a:rPr>
              <a:t>③ AI降低执行成本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PPT · 图片 · 文案 · 网页 · 翻译 · 视频 · 自动化，交给AI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23</a:t>
            </a:r>
            <a:endParaRPr lang="en-US" sz="11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我为什么一直没有真正变现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我知道商业逻辑，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为什么自己却一直没跑通？</a:t>
            </a:r>
            <a:endParaRPr lang="en-US" sz="16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2184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我其实知道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565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找用户 → 找痛点 → 解决痛点 → 成交 → 交付 → 复购</a:t>
            </a:r>
            <a:endParaRPr lang="en-US" sz="1700" noProof="1"/>
          </a:p>
        </p:txBody>
      </p:sp>
      <p:sp>
        <p:nvSpPr>
          <p:cNvPr id="7" name="right-label"/>
          <p:cNvSpPr txBox="1"/>
          <p:nvPr/>
        </p:nvSpPr>
        <p:spPr>
          <a:xfrm>
            <a:off x="762000" y="3708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但我过去做AI</a:t>
            </a:r>
            <a:endParaRPr lang="en-US" sz="1400" noProof="1"/>
          </a:p>
        </p:txBody>
      </p:sp>
      <p:sp>
        <p:nvSpPr>
          <p:cNvPr id="8" name="right"/>
          <p:cNvSpPr txBox="1"/>
          <p:nvPr/>
        </p:nvSpPr>
        <p:spPr>
          <a:xfrm>
            <a:off x="762000" y="40894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我感兴趣 → 觉得有意思 → 做一个功能 → 做出来 → 结束</a:t>
            </a:r>
            <a:endParaRPr lang="en-US" sz="1700" noProof="1"/>
          </a:p>
        </p:txBody>
      </p:sp>
      <p:sp>
        <p:nvSpPr>
          <p:cNvPr id="9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0" name="punch"/>
          <p:cNvSpPr txBox="1"/>
          <p:nvPr/>
        </p:nvSpPr>
        <p:spPr>
          <a:xfrm>
            <a:off x="7620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两条路径，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从来没有相交过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25</a:t>
            </a:r>
            <a:endParaRPr lang="en-US" sz="11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我为什么一直没有真正变现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我一直站在「我想做什么」的角度，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800" noProof="1" b="1">
                <a:solidFill>
                  <a:srgbClr val="B85C1F"/>
                </a:solidFill>
                <a:latin typeface="MiSans"/>
                <a:ea typeface="MiSans"/>
              </a:rPr>
              <a:t>而不是「用户到底需要什么」</a:t>
            </a:r>
            <a:endParaRPr lang="en-US" sz="1600" noProof="1"/>
          </a:p>
        </p:txBody>
      </p:sp>
      <p:sp>
        <p:nvSpPr>
          <p:cNvPr id="5" name="rows"/>
          <p:cNvSpPr txBox="1"/>
          <p:nvPr/>
        </p:nvSpPr>
        <p:spPr>
          <a:xfrm>
            <a:off x="660400" y="2184400"/>
            <a:ext cx="10922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过去「AI能不能做这个？」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现在「用户有没有这个问题？」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过去「这个功能很酷」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现在「它解决了什么完整问题？」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过去「我能做出来」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现在「用户愿不愿意用？」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过去「做一个功能」　→　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现在「解决一个问题」</a:t>
            </a:r>
            <a:endParaRPr lang="en-US" sz="1600" noProof="1"/>
          </a:p>
        </p:txBody>
      </p:sp>
      <p:sp>
        <p:nvSpPr>
          <p:cNvPr id="6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26</a:t>
            </a:r>
            <a:endParaRPr lang="en-US" sz="11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我为什么一直没有真正变现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功能和产品，完全不是一回事</a:t>
            </a:r>
            <a:endParaRPr lang="en-US" sz="3000" noProof="1"/>
          </a:p>
        </p:txBody>
      </p:sp>
      <p:sp>
        <p:nvSpPr>
          <p:cNvPr id="5" name="func-label"/>
          <p:cNvSpPr txBox="1"/>
          <p:nvPr/>
        </p:nvSpPr>
        <p:spPr>
          <a:xfrm>
            <a:off x="762000" y="1778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8C7B6B"/>
                </a:solidFill>
                <a:latin typeface="MiSans"/>
                <a:ea typeface="MiSans"/>
              </a:rPr>
              <a:t>功能</a:t>
            </a:r>
            <a:endParaRPr lang="en-US" sz="1500" noProof="1"/>
          </a:p>
        </p:txBody>
      </p:sp>
      <p:sp>
        <p:nvSpPr>
          <p:cNvPr id="6" name="func"/>
          <p:cNvSpPr txBox="1"/>
          <p:nvPr/>
        </p:nvSpPr>
        <p:spPr>
          <a:xfrm>
            <a:off x="762000" y="22352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8C7B6B"/>
                </a:solidFill>
                <a:latin typeface="MiSans"/>
                <a:ea typeface="MiSans"/>
              </a:rPr>
              <a:t>「帮你生成一个PPT」</a:t>
            </a:r>
            <a:endParaRPr lang="en-US" sz="21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eyJ2aWV3Qm94IjpbMiwyNjBdLCJwb2ludHMiOiIxLDAgMSwyNjAiLCJjdXJ2ZSI6InNoYXJwIn0</pptd:line>
              </p:ext>
            </p:extLst>
          </p:nvPr>
        </p:nvSpPr>
        <p:spPr>
          <a:xfrm>
            <a:off x="6070600" y="1778000"/>
            <a:ext cx="25400" cy="3302000"/>
          </a:xfrm>
          <a:custGeom>
            <a:avLst/>
            <a:gdLst/>
            <a:ahLst/>
            <a:cxnLst/>
            <a:rect l="l" t="t" r="r" b="b"/>
            <a:pathLst>
              <a:path w="2" h="260">
                <a:moveTo>
                  <a:pt x="1" y="0"/>
                </a:moveTo>
                <a:lnTo>
                  <a:pt x="1" y="26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prod-label"/>
          <p:cNvSpPr txBox="1"/>
          <p:nvPr/>
        </p:nvSpPr>
        <p:spPr>
          <a:xfrm>
            <a:off x="6604000" y="1778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产品</a:t>
            </a:r>
            <a:endParaRPr lang="en-US" sz="1500" noProof="1"/>
          </a:p>
        </p:txBody>
      </p:sp>
      <p:sp>
        <p:nvSpPr>
          <p:cNvPr id="9" name="prod"/>
          <p:cNvSpPr txBox="1"/>
          <p:nvPr/>
        </p:nvSpPr>
        <p:spPr>
          <a:xfrm>
            <a:off x="6604000" y="2235200"/>
            <a:ext cx="5207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我知道你是谁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我知道你遇到了什么问题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我知道你为什么解决不了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我给你完整方案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我陪你执行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↓　我知道结果怎么样</a:t>
            </a:r>
            <a:endParaRPr lang="en-US" sz="16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5626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功能解决一个动作，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产品解决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一段完整的问题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27</a:t>
            </a:r>
            <a:endParaRPr lang="en-US" sz="11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第六章 · 换一种方式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8C7B6B"/>
                </a:solidFill>
                <a:latin typeface="MiSans"/>
                <a:ea typeface="MiSans"/>
              </a:rPr>
              <a:t>不是「我想做一个AI产品」，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而是「我现在到底遇到了什么问题」</a:t>
            </a:r>
            <a:endParaRPr lang="en-US" sz="1600" noProof="1"/>
          </a:p>
        </p:txBody>
      </p:sp>
      <p:sp>
        <p:nvSpPr>
          <p:cNvPr id="5" name="list"/>
          <p:cNvSpPr txBox="1"/>
          <p:nvPr/>
        </p:nvSpPr>
        <p:spPr>
          <a:xfrm>
            <a:off x="660400" y="2133600"/>
            <a:ext cx="10922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工作台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解决工作效率 + 组织知识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门店诊断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解决「老板不知道自己真正的问题是什么」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健康AI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解决长期数据看不懂、不会跟踪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GEO</a:t>
            </a: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　—— 探索「AI到底如何认识一个人和一个品牌」</a:t>
            </a:r>
            <a:endParaRPr lang="en-US" sz="16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6604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从「兴趣驱动」，到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「真实需求驱动」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28</a:t>
            </a:r>
            <a:endParaRPr lang="en-US" sz="11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我从自己的工作开始</a:t>
            </a:r>
            <a:endParaRPr lang="en-US" sz="30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1778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真实问题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184400"/>
            <a:ext cx="4826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信息散落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状态不清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不断追问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员工不断汇报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问题容易遗漏</a:t>
            </a:r>
            <a:endParaRPr lang="en-US" sz="17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eyJ2aWV3Qm94IjpbMiwyNTBdLCJwb2ludHMiOiIxLDAgMSwyNTAiLCJjdXJ2ZSI6InNoYXJwIn0</pptd:line>
              </p:ext>
            </p:extLst>
          </p:nvPr>
        </p:nvSpPr>
        <p:spPr>
          <a:xfrm>
            <a:off x="5969000" y="1778000"/>
            <a:ext cx="25400" cy="3175000"/>
          </a:xfrm>
          <a:custGeom>
            <a:avLst/>
            <a:gdLst/>
            <a:ahLst/>
            <a:cxnLst/>
            <a:rect l="l" t="t" r="r" b="b"/>
            <a:pathLst>
              <a:path w="2" h="250">
                <a:moveTo>
                  <a:pt x="1" y="0"/>
                </a:moveTo>
                <a:lnTo>
                  <a:pt x="1" y="25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right-label"/>
          <p:cNvSpPr txBox="1"/>
          <p:nvPr/>
        </p:nvSpPr>
        <p:spPr>
          <a:xfrm>
            <a:off x="6477000" y="1778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所以我做了</a:t>
            </a:r>
            <a:endParaRPr lang="en-US" sz="1400" noProof="1"/>
          </a:p>
        </p:txBody>
      </p:sp>
      <p:sp>
        <p:nvSpPr>
          <p:cNvPr id="9" name="right"/>
          <p:cNvSpPr txBox="1"/>
          <p:nvPr/>
        </p:nvSpPr>
        <p:spPr>
          <a:xfrm>
            <a:off x="6477000" y="2184400"/>
            <a:ext cx="5207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今天要盯的N件事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A级问题池（≤3个）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阶段 / 摘要 / 问题 / 任务 / 日历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发起人 + 当前负责人，双向可见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发起人决定关闭</a:t>
            </a:r>
            <a:endParaRPr lang="en-US" sz="17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让管理者少花时间</a:t>
            </a:r>
            <a:r>
              <a:rPr lang="en-US" sz="1800" noProof="1" b="1">
                <a:solidFill>
                  <a:srgbClr val="8C7B6B"/>
                </a:solidFill>
                <a:latin typeface="MiSans"/>
                <a:ea typeface="MiSans"/>
              </a:rPr>
              <a:t>追信息</a:t>
            </a: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，多花时间</a:t>
            </a: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做判断</a:t>
            </a: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8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29</a:t>
            </a:r>
            <a:endParaRPr lang="en-US" sz="11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「错误的状态」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比「少一个功能」更危险</a:t>
            </a:r>
            <a:endParaRPr lang="en-US" sz="1600" noProof="1"/>
          </a:p>
        </p:txBody>
      </p:sp>
      <p:sp>
        <p:nvSpPr>
          <p:cNvPr id="5" name="example"/>
          <p:cNvSpPr txBox="1"/>
          <p:nvPr/>
        </p:nvSpPr>
        <p:spPr>
          <a:xfrm>
            <a:off x="660400" y="24130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要让员工愿意用、喜欢用、持续用</a:t>
            </a:r>
            <a:endParaRPr lang="en-US" sz="1700" noProof="1"/>
          </a:p>
        </p:txBody>
      </p:sp>
      <p:sp>
        <p:nvSpPr>
          <p:cNvPr id="6" name="questions"/>
          <p:cNvSpPr txBox="1"/>
          <p:nvPr/>
        </p:nvSpPr>
        <p:spPr>
          <a:xfrm>
            <a:off x="660400" y="3810000"/>
            <a:ext cx="1092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谁发起？　谁负责？　当前状态？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谁判断结束？　线上线下一致吗？</a:t>
            </a:r>
            <a:endParaRPr lang="en-US" sz="1700" noProof="1"/>
          </a:p>
        </p:txBody>
      </p:sp>
      <p:sp>
        <p:nvSpPr>
          <p:cNvPr id="7" name="punch"/>
          <p:cNvSpPr txBox="1"/>
          <p:nvPr/>
        </p:nvSpPr>
        <p:spPr>
          <a:xfrm>
            <a:off x="660400" y="56896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AI产品不是功能越多越好，而是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状态必须真实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30</a:t>
            </a:r>
            <a:endParaRPr lang="en-US" sz="11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1143000" y="1651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我原本是在做一个管理工具。</a:t>
            </a:r>
            <a:endParaRPr lang="en-US" sz="2600" noProof="1"/>
          </a:p>
        </p:txBody>
      </p:sp>
      <p:sp>
        <p:nvSpPr>
          <p:cNvPr id="3" name="text2"/>
          <p:cNvSpPr txBox="1"/>
          <p:nvPr/>
        </p:nvSpPr>
        <p:spPr>
          <a:xfrm>
            <a:off x="1143000" y="2921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FAF4EA"/>
                </a:solidFill>
                <a:latin typeface="MiSans"/>
                <a:ea typeface="MiSans"/>
              </a:rPr>
              <a:t>后来我发现，我真正想留下的不是数据。</a:t>
            </a:r>
            <a:endParaRPr lang="en-US" sz="3000" noProof="1"/>
          </a:p>
        </p:txBody>
      </p:sp>
      <p:sp>
        <p:nvSpPr>
          <p:cNvPr id="4" name="text3"/>
          <p:cNvSpPr txBox="1"/>
          <p:nvPr/>
        </p:nvSpPr>
        <p:spPr>
          <a:xfrm>
            <a:off x="1143000" y="39370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noProof="1" b="1">
                <a:solidFill>
                  <a:srgbClr val="B85C1F"/>
                </a:solidFill>
                <a:latin typeface="MiSans"/>
                <a:ea typeface="MiSans"/>
              </a:rPr>
              <a:t>而是公司的记忆。</a:t>
            </a:r>
            <a:endParaRPr lang="en-US" sz="16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员工每天产生的，其实是「隐藏资产」</a:t>
            </a:r>
            <a:endParaRPr lang="en-US" sz="28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1778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表面上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2352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8C7B6B"/>
                </a:solidFill>
                <a:latin typeface="MiSans"/>
                <a:ea typeface="MiSans"/>
              </a:rPr>
              <a:t>「客户问题已解决。」</a:t>
            </a:r>
            <a:endParaRPr lang="en-US" sz="21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eyJ2aWV3Qm94IjpbMiwyNzBdLCJwb2ludHMiOiIxLDAgMSwyNzAiLCJjdXJ2ZSI6InNoYXJwIn0</pptd:line>
              </p:ext>
            </p:extLst>
          </p:nvPr>
        </p:nvSpPr>
        <p:spPr>
          <a:xfrm>
            <a:off x="5969000" y="1778000"/>
            <a:ext cx="25400" cy="3429000"/>
          </a:xfrm>
          <a:custGeom>
            <a:avLst/>
            <a:gdLst/>
            <a:ahLst/>
            <a:cxnLst/>
            <a:rect l="l" t="t" r="r" b="b"/>
            <a:pathLst>
              <a:path w="2" h="270">
                <a:moveTo>
                  <a:pt x="1" y="0"/>
                </a:moveTo>
                <a:lnTo>
                  <a:pt x="1" y="27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right-label"/>
          <p:cNvSpPr txBox="1"/>
          <p:nvPr/>
        </p:nvSpPr>
        <p:spPr>
          <a:xfrm>
            <a:off x="6477000" y="1778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但真正有价值的是</a:t>
            </a:r>
            <a:endParaRPr lang="en-US" sz="1400" noProof="1"/>
          </a:p>
        </p:txBody>
      </p:sp>
      <p:sp>
        <p:nvSpPr>
          <p:cNvPr id="9" name="right"/>
          <p:cNvSpPr txBox="1"/>
          <p:nvPr/>
        </p:nvSpPr>
        <p:spPr>
          <a:xfrm>
            <a:off x="6477000" y="2184400"/>
            <a:ext cx="5207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客户为什么不满意？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谁帮忙解决的？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当时怎么沟通？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哪个方法有效？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哪个坑以后不能再踩？</a:t>
            </a:r>
            <a:endParaRPr lang="en-US" sz="1600" noProof="1"/>
          </a:p>
          <a:p>
            <a:pPr algn="l">
              <a:lnSpc>
                <a:spcPct val="175000"/>
              </a:lnSpc>
            </a:pPr>
            <a:r>
              <a:rPr lang="en-US" sz="1600" noProof="1">
                <a:solidFill>
                  <a:srgbClr val="2E241B"/>
                </a:solidFill>
                <a:latin typeface="MiSans"/>
                <a:ea typeface="MiSans"/>
              </a:rPr>
              <a:t>哪个资源以后还能用？</a:t>
            </a:r>
            <a:endParaRPr lang="en-US" sz="16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664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员工产生工作记录，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AI提炼组织知识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32</a:t>
            </a:r>
            <a:endParaRPr lang="en-US" sz="11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项目一 部门工作台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10160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公司的记忆怎么形成？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2286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工作 → 记录 → AI提取 → 经验 → 方法 → 组织知识 → 公司的长期记忆</a:t>
            </a:r>
            <a:endParaRPr lang="en-US" sz="18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4191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762000" y="4699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2E241B"/>
                </a:solidFill>
                <a:latin typeface="MiSans"/>
                <a:ea typeface="MiSans"/>
              </a:rPr>
              <a:t>企业要留住人才，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noProof="1" b="1">
                <a:solidFill>
                  <a:srgbClr val="B85C1F"/>
                </a:solidFill>
                <a:latin typeface="MiSans"/>
                <a:ea typeface="MiSans"/>
              </a:rPr>
              <a:t>也要留住人才创造出来的知识。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33</a:t>
            </a:r>
            <a:endParaRPr lang="en-US" sz="11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项目二 门店AI诊断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8C7B6B"/>
                </a:solidFill>
                <a:latin typeface="MiSans"/>
                <a:ea typeface="MiSans"/>
              </a:rPr>
              <a:t>做门店诊断，我发现最难的不是解决问题，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3600" noProof="1" b="1">
                <a:solidFill>
                  <a:srgbClr val="B85C1F"/>
                </a:solidFill>
                <a:latin typeface="MiSans"/>
                <a:ea typeface="MiSans"/>
              </a:rPr>
              <a:t>而是先找到问题</a:t>
            </a:r>
            <a:endParaRPr lang="en-US" sz="1600" noProof="1"/>
          </a:p>
        </p:txBody>
      </p:sp>
      <p:sp>
        <p:nvSpPr>
          <p:cNvPr id="5" name="problems"/>
          <p:cNvSpPr txBox="1"/>
          <p:nvPr/>
        </p:nvSpPr>
        <p:spPr>
          <a:xfrm>
            <a:off x="660400" y="2540000"/>
            <a:ext cx="1092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可能的问题：</a:t>
            </a:r>
            <a:endParaRPr lang="en-US" sz="2000" noProof="1"/>
          </a:p>
          <a:p>
            <a:pPr algn="l">
              <a:lnSpc>
                <a:spcPct val="190000"/>
              </a:lnSpc>
            </a:pP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获客　·　转化　·　产品　·　价格　·　评价　·　复购　·　内容　·　私域</a:t>
            </a:r>
            <a:endParaRPr lang="en-US" sz="2000" noProof="1"/>
          </a:p>
        </p:txBody>
      </p:sp>
      <p:sp>
        <p:nvSpPr>
          <p:cNvPr id="6" name="not"/>
          <p:cNvSpPr txBox="1"/>
          <p:nvPr/>
        </p:nvSpPr>
        <p:spPr>
          <a:xfrm>
            <a:off x="660400" y="48260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8C7B6B"/>
                </a:solidFill>
                <a:latin typeface="MiSans"/>
                <a:ea typeface="MiSans"/>
              </a:rPr>
              <a:t>而不是张口就来：</a:t>
            </a:r>
            <a:r>
              <a:rPr lang="en-US" sz="2000" noProof="1" strike="sngStrike">
                <a:solidFill>
                  <a:srgbClr val="8C7B6B"/>
                </a:solidFill>
                <a:latin typeface="MiSans"/>
                <a:ea typeface="MiSans"/>
              </a:rPr>
              <a:t>「老板，你应该做小红书。」</a:t>
            </a:r>
            <a:endParaRPr lang="en-US" sz="2000" noProof="1"/>
          </a:p>
        </p:txBody>
      </p:sp>
      <p:sp>
        <p:nvSpPr>
          <p:cNvPr id="7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34</a:t>
            </a:r>
            <a:endParaRPr lang="en-US" sz="11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第七章 · 项目二 门店AI诊断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我的诊断链路</a:t>
            </a:r>
            <a:endParaRPr lang="en-US" sz="3000" noProof="1"/>
          </a:p>
        </p:txBody>
      </p:sp>
      <p:sp>
        <p:nvSpPr>
          <p:cNvPr id="5" name="flow"/>
          <p:cNvSpPr txBox="1"/>
          <p:nvPr/>
        </p:nvSpPr>
        <p:spPr>
          <a:xfrm>
            <a:off x="660400" y="1905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数据 → 证据 → 诊断 → 优先级 → 解决方案 → 行动</a:t>
            </a:r>
            <a:endParaRPr lang="en-US" sz="19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2921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rules"/>
          <p:cNvSpPr txBox="1"/>
          <p:nvPr/>
        </p:nvSpPr>
        <p:spPr>
          <a:xfrm>
            <a:off x="762000" y="3302000"/>
            <a:ext cx="1066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9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没数据 ＝ 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未评估</a:t>
            </a:r>
            <a:endParaRPr lang="en-US" sz="1900" noProof="1"/>
          </a:p>
          <a:p>
            <a:pPr algn="ctr">
              <a:lnSpc>
                <a:spcPct val="19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没证据 ＝ 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不打分</a:t>
            </a:r>
            <a:endParaRPr lang="en-US" sz="1900" noProof="1"/>
          </a:p>
          <a:p>
            <a:pPr algn="ctr">
              <a:lnSpc>
                <a:spcPct val="19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不确定 ＝ 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明确告诉用户</a:t>
            </a:r>
            <a:endParaRPr lang="en-US" sz="1900" noProof="1"/>
          </a:p>
        </p:txBody>
      </p:sp>
      <p:sp>
        <p:nvSpPr>
          <p:cNvPr id="8" name="punch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2E241B"/>
                </a:solidFill>
                <a:latin typeface="MiSans"/>
                <a:ea typeface="MiSans"/>
              </a:rPr>
              <a:t>宁可报告不丰满，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不要报告不可信。</a:t>
            </a:r>
            <a:endParaRPr lang="en-US" sz="16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35</a:t>
            </a:r>
            <a:endParaRPr lang="en-US" sz="11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第八章 · 项目三 健康AI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我把5年的体检报告放进AI</a:t>
            </a:r>
            <a:endParaRPr lang="en-US" sz="3000" noProof="1"/>
          </a:p>
        </p:txBody>
      </p:sp>
      <p:sp>
        <p:nvSpPr>
          <p:cNvPr id="5" name="left-label"/>
          <p:cNvSpPr txBox="1"/>
          <p:nvPr/>
        </p:nvSpPr>
        <p:spPr>
          <a:xfrm>
            <a:off x="762000" y="1854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以前</a:t>
            </a:r>
            <a:endParaRPr lang="en-US" sz="1400" noProof="1"/>
          </a:p>
        </p:txBody>
      </p:sp>
      <p:sp>
        <p:nvSpPr>
          <p:cNvPr id="6" name="left"/>
          <p:cNvSpPr txBox="1"/>
          <p:nvPr/>
        </p:nvSpPr>
        <p:spPr>
          <a:xfrm>
            <a:off x="762000" y="2260600"/>
            <a:ext cx="4826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每年看一次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看到异常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放下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第二年重新看</a:t>
            </a:r>
            <a:endParaRPr lang="en-US" sz="17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eyJ2aWV3Qm94IjpbMiwyMjBdLCJwb2ludHMiOiIxLDAgMSwyMjAiLCJjdXJ2ZSI6InNoYXJwIn0</pptd:line>
              </p:ext>
            </p:extLst>
          </p:nvPr>
        </p:nvSpPr>
        <p:spPr>
          <a:xfrm>
            <a:off x="5969000" y="1905000"/>
            <a:ext cx="25400" cy="2794000"/>
          </a:xfrm>
          <a:custGeom>
            <a:avLst/>
            <a:gdLst/>
            <a:ahLst/>
            <a:cxnLst/>
            <a:rect l="l" t="t" r="r" b="b"/>
            <a:pathLst>
              <a:path w="2" h="220">
                <a:moveTo>
                  <a:pt x="1" y="0"/>
                </a:moveTo>
                <a:lnTo>
                  <a:pt x="1" y="22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right-label"/>
          <p:cNvSpPr txBox="1"/>
          <p:nvPr/>
        </p:nvSpPr>
        <p:spPr>
          <a:xfrm>
            <a:off x="6477000" y="1854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现在</a:t>
            </a:r>
            <a:endParaRPr lang="en-US" sz="1400" noProof="1"/>
          </a:p>
        </p:txBody>
      </p:sp>
      <p:sp>
        <p:nvSpPr>
          <p:cNvPr id="9" name="right"/>
          <p:cNvSpPr txBox="1"/>
          <p:nvPr/>
        </p:nvSpPr>
        <p:spPr>
          <a:xfrm>
            <a:off x="6477000" y="2260600"/>
            <a:ext cx="5207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全部放一起，看趋势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看重复出现的问题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整理需要进一步咨询医生的问题</a:t>
            </a:r>
            <a:endParaRPr lang="en-US" sz="1700" noProof="1"/>
          </a:p>
          <a:p>
            <a:pPr algn="l">
              <a:lnSpc>
                <a:spcPct val="18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做长期跟踪</a:t>
            </a:r>
            <a:endParaRPr lang="en-US" sz="1700" noProof="1"/>
          </a:p>
        </p:txBody>
      </p:sp>
      <p:sp>
        <p:nvSpPr>
          <p:cNvPr id="10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11" name="punch"/>
          <p:cNvSpPr txBox="1"/>
          <p:nvPr/>
        </p:nvSpPr>
        <p:spPr>
          <a:xfrm>
            <a:off x="7620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数据堆在一起，</a:t>
            </a: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不等于看懂了</a:t>
            </a:r>
            <a:r>
              <a:rPr lang="en-US" sz="20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00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36</a:t>
            </a:r>
            <a:endParaRPr lang="en-US" sz="11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第八章 · 从数据到行动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652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数据不是终点</a:t>
            </a:r>
            <a:endParaRPr lang="en-US" sz="3000" noProof="1"/>
          </a:p>
        </p:txBody>
      </p:sp>
      <p:sp>
        <p:nvSpPr>
          <p:cNvPr id="5" name="formula"/>
          <p:cNvSpPr txBox="1"/>
          <p:nvPr/>
        </p:nvSpPr>
        <p:spPr>
          <a:xfrm>
            <a:off x="762000" y="2032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数据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B85C1F"/>
                </a:solidFill>
                <a:latin typeface="MiSans"/>
                <a:ea typeface="MiSans"/>
              </a:rPr>
              <a:t>↓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证据　→　诊断　→　优先级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B85C1F"/>
                </a:solidFill>
                <a:latin typeface="MiSans"/>
                <a:ea typeface="MiSans"/>
              </a:rPr>
              <a:t>↓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3400" noProof="1" b="1">
                <a:solidFill>
                  <a:srgbClr val="B85C1F"/>
                </a:solidFill>
                <a:latin typeface="MiSans"/>
                <a:ea typeface="MiSans"/>
              </a:rPr>
              <a:t>行动</a:t>
            </a:r>
            <a:endParaRPr lang="en-US" sz="1600" noProof="1"/>
          </a:p>
        </p:txBody>
      </p:sp>
      <p:sp>
        <p:nvSpPr>
          <p:cNvPr id="6" name="punch"/>
          <p:cNvSpPr txBox="1"/>
          <p:nvPr/>
        </p:nvSpPr>
        <p:spPr>
          <a:xfrm>
            <a:off x="762000" y="4826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333333"/>
                </a:solidFill>
                <a:latin typeface="MiSans"/>
                <a:ea typeface="MiSans"/>
              </a:rPr>
              <a:t>信息不是终点，</a:t>
            </a: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行动才是</a:t>
            </a:r>
            <a:r>
              <a:rPr lang="en-US" sz="2200" noProof="1" b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2200" noProof="1"/>
          </a:p>
        </p:txBody>
      </p:sp>
      <p:sp>
        <p:nvSpPr>
          <p:cNvPr id="7" name="boundary"/>
          <p:cNvSpPr txBox="1"/>
          <p:nvPr/>
        </p:nvSpPr>
        <p:spPr>
          <a:xfrm>
            <a:off x="762000" y="59436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8C7B6B"/>
                </a:solidFill>
                <a:latin typeface="MiSans"/>
                <a:ea typeface="MiSans"/>
              </a:rPr>
              <a:t>AI帮助整理和理解信息，不替代专业诊断和治疗。</a:t>
            </a:r>
            <a:endParaRPr lang="en-US" sz="12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37</a:t>
            </a:r>
            <a:endParaRPr lang="en-US" sz="11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第九章 · 项目四 GEO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2E241B"/>
                </a:solidFill>
                <a:latin typeface="MiSans"/>
                <a:ea typeface="MiSans"/>
              </a:rPr>
              <a:t>我为什么开始研究GEO？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800" noProof="1" b="1">
                <a:solidFill>
                  <a:srgbClr val="B85C1F"/>
                </a:solidFill>
                <a:latin typeface="MiSans"/>
                <a:ea typeface="MiSans"/>
              </a:rPr>
              <a:t>其实我现在还不知道答案</a:t>
            </a:r>
            <a:endParaRPr lang="en-US" sz="1600" noProof="1"/>
          </a:p>
        </p:txBody>
      </p:sp>
      <p:sp>
        <p:nvSpPr>
          <p:cNvPr id="5" name="story"/>
          <p:cNvSpPr txBox="1"/>
          <p:nvPr/>
        </p:nvSpPr>
        <p:spPr>
          <a:xfrm>
            <a:off x="660400" y="2082800"/>
            <a:ext cx="10922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开餐厅的朋友问：</a:t>
            </a: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「怎么才能让别人通过AI找到我？」</a:t>
            </a:r>
            <a:endParaRPr lang="en-US" sz="1700" noProof="1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我的第一反应：「是不是给每个模型灌数据？」</a:t>
            </a:r>
            <a:endParaRPr lang="en-US" sz="170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后来：问AI → 自己搜索 → 豆包 → Kimi → 看公开信息 → 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找到了过去的媒体采访</a:t>
            </a:r>
            <a:endParaRPr lang="en-US" sz="17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4572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punch"/>
          <p:cNvSpPr txBox="1"/>
          <p:nvPr/>
        </p:nvSpPr>
        <p:spPr>
          <a:xfrm>
            <a:off x="660400" y="48768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2E241B"/>
                </a:solidFill>
                <a:latin typeface="MiSans"/>
                <a:ea typeface="MiSans"/>
              </a:rPr>
              <a:t>AI到底是怎么认识一个人的？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B85C1F"/>
                </a:solidFill>
                <a:latin typeface="MiSans"/>
                <a:ea typeface="MiSans"/>
              </a:rPr>
              <a:t>我不是因为知道答案才研究GEO——恰恰是因为我不知道答案。</a:t>
            </a:r>
            <a:endParaRPr lang="en-US" sz="16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38</a:t>
            </a:r>
            <a:endParaRPr lang="en-US" sz="11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第十章 · AI焦虑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AI变化这么快，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B85C1F"/>
                </a:solidFill>
                <a:latin typeface="MiSans"/>
                <a:ea typeface="MiSans"/>
              </a:rPr>
              <a:t>我会不会永远追不上？</a:t>
            </a:r>
            <a:endParaRPr lang="en-US" sz="1600" noProof="1"/>
          </a:p>
        </p:txBody>
      </p:sp>
      <p:sp>
        <p:nvSpPr>
          <p:cNvPr id="5" name="buzz"/>
          <p:cNvSpPr txBox="1"/>
          <p:nvPr/>
        </p:nvSpPr>
        <p:spPr>
          <a:xfrm>
            <a:off x="660400" y="2159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8C7B6B"/>
                </a:solidFill>
                <a:latin typeface="MiSans"/>
                <a:ea typeface="MiSans"/>
              </a:rPr>
              <a:t>新模型　·　新工具　·　新Agent　·　新Skill　·　新方法</a:t>
            </a:r>
            <a:endParaRPr lang="en-US" sz="1700" noProof="1"/>
          </a:p>
        </p:txBody>
      </p:sp>
      <p:sp>
        <p:nvSpPr>
          <p:cNvPr id="6" name="body"/>
          <p:cNvSpPr txBox="1"/>
          <p:nvPr/>
        </p:nvSpPr>
        <p:spPr>
          <a:xfrm>
            <a:off x="660400" y="3048000"/>
            <a:ext cx="1092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然后我发现：</a:t>
            </a: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我看到的是算法筛选后的世界。</a:t>
            </a:r>
            <a:endParaRPr lang="en-US" sz="180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平台天天给我推：</a:t>
            </a:r>
            <a:r>
              <a:rPr lang="en-US" sz="1800" noProof="1">
                <a:solidFill>
                  <a:srgbClr val="B85C1F"/>
                </a:solidFill>
                <a:latin typeface="MiSans"/>
                <a:ea typeface="MiSans"/>
              </a:rPr>
              <a:t>最厉害的人 · 最漂亮的案例 · 最快的结果</a:t>
            </a:r>
            <a:endParaRPr lang="en-US" sz="1800" noProof="1"/>
          </a:p>
        </p:txBody>
      </p:sp>
      <p:sp>
        <p:nvSpPr>
          <p:cNvPr id="7" name="punch"/>
          <p:cNvSpPr txBox="1"/>
          <p:nvPr/>
        </p:nvSpPr>
        <p:spPr>
          <a:xfrm>
            <a:off x="660400" y="5207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333333"/>
                </a:solidFill>
                <a:latin typeface="MiSans"/>
                <a:ea typeface="MiSans"/>
              </a:rPr>
              <a:t>于是产生一种错觉：</a:t>
            </a: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「是不是所有人都会了？」</a:t>
            </a:r>
            <a:endParaRPr lang="en-US" sz="22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39</a:t>
            </a:r>
            <a:endParaRPr lang="en-US" sz="11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第十章 · AI焦虑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我现在怎么看AI焦虑</a:t>
            </a:r>
            <a:endParaRPr lang="en-US" sz="3000" noProof="1"/>
          </a:p>
        </p:txBody>
      </p:sp>
      <p:sp>
        <p:nvSpPr>
          <p:cNvPr id="5" name="j1"/>
          <p:cNvSpPr txBox="1"/>
          <p:nvPr/>
        </p:nvSpPr>
        <p:spPr>
          <a:xfrm>
            <a:off x="660400" y="17780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①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不要把互联网的顶尖样本，当成现实世界的平均水平。</a:t>
            </a:r>
            <a:endParaRPr lang="en-US" sz="1600" noProof="1"/>
          </a:p>
        </p:txBody>
      </p:sp>
      <p:sp>
        <p:nvSpPr>
          <p:cNvPr id="6" name="j2"/>
          <p:cNvSpPr txBox="1"/>
          <p:nvPr/>
        </p:nvSpPr>
        <p:spPr>
          <a:xfrm>
            <a:off x="660400" y="2921000"/>
            <a:ext cx="1092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②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企业真正落地AI，没有想象中那么快。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8C7B6B"/>
                </a:solidFill>
                <a:latin typeface="MiSans"/>
                <a:ea typeface="MiSans"/>
              </a:rPr>
              <a:t>　　因为技术之外，还有：流程 · 管理 · 利益 · 组织 · 员工心理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　　比如，员工可能担心：「我效率提高以后，是不是工作更多？」</a:t>
            </a:r>
            <a:endParaRPr lang="en-US" sz="1600" noProof="1"/>
          </a:p>
        </p:txBody>
      </p:sp>
      <p:sp>
        <p:nvSpPr>
          <p:cNvPr id="7" name="j3"/>
          <p:cNvSpPr txBox="1"/>
          <p:nvPr/>
        </p:nvSpPr>
        <p:spPr>
          <a:xfrm>
            <a:off x="660400" y="47752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③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　不需要和最厉害的人比。</a:t>
            </a:r>
            <a:endParaRPr lang="en-US" sz="1600" noProof="1"/>
          </a:p>
        </p:txBody>
      </p:sp>
      <p:sp>
        <p:nvSpPr>
          <p:cNvPr id="8" name="punch"/>
          <p:cNvSpPr txBox="1"/>
          <p:nvPr/>
        </p:nvSpPr>
        <p:spPr>
          <a:xfrm>
            <a:off x="660400" y="5689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只要比身边的人</a:t>
            </a: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多学一点、多用一点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，就已经在发生变化。</a:t>
            </a:r>
            <a:endParaRPr lang="en-US" sz="19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40</a:t>
            </a:r>
            <a:endParaRPr lang="en-US" sz="1100" noProof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第十一章 · 重新理解「经验」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636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8C7B6B"/>
                </a:solidFill>
                <a:latin typeface="MiSans"/>
                <a:ea typeface="MiSans"/>
              </a:rPr>
              <a:t>工作20多年，我以前以为自己最大的资产叫「经验」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但AI让我重新问：什么叫经验？</a:t>
            </a:r>
            <a:endParaRPr lang="en-US" sz="1600" noProof="1"/>
          </a:p>
        </p:txBody>
      </p:sp>
      <p:sp>
        <p:nvSpPr>
          <p:cNvPr id="5" name="not"/>
          <p:cNvSpPr txBox="1"/>
          <p:nvPr/>
        </p:nvSpPr>
        <p:spPr>
          <a:xfrm>
            <a:off x="660400" y="2159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8C7B6B"/>
                </a:solidFill>
                <a:latin typeface="MiSans"/>
                <a:ea typeface="MiSans"/>
              </a:rPr>
              <a:t>不是：「我干了20年。」</a:t>
            </a:r>
            <a:endParaRPr lang="en-US" sz="2000" noProof="1"/>
          </a:p>
        </p:txBody>
      </p:sp>
      <p:sp>
        <p:nvSpPr>
          <p:cNvPr id="6" name="but"/>
          <p:cNvSpPr txBox="1"/>
          <p:nvPr/>
        </p:nvSpPr>
        <p:spPr>
          <a:xfrm>
            <a:off x="660400" y="281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B85C1F"/>
                </a:solidFill>
                <a:latin typeface="MiSans"/>
                <a:ea typeface="MiSans"/>
              </a:rPr>
              <a:t>而是——</a:t>
            </a:r>
            <a:endParaRPr lang="en-US" sz="1500" noProof="1"/>
          </a:p>
        </p:txBody>
      </p:sp>
      <p:sp>
        <p:nvSpPr>
          <p:cNvPr id="7" name="questions"/>
          <p:cNvSpPr txBox="1"/>
          <p:nvPr/>
        </p:nvSpPr>
        <p:spPr>
          <a:xfrm>
            <a:off x="660400" y="3225800"/>
            <a:ext cx="10922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为什么这样做？　什么情况下成立？　什么情况下不成立？</a:t>
            </a:r>
            <a:endParaRPr lang="en-US" sz="1800" noProof="1"/>
          </a:p>
          <a:p>
            <a:pPr algn="l">
              <a:lnSpc>
                <a:spcPct val="18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有没有例外？</a:t>
            </a:r>
            <a:endParaRPr lang="en-US" sz="1800" noProof="1"/>
          </a:p>
          <a:p>
            <a:pPr algn="l">
              <a:lnSpc>
                <a:spcPct val="18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什么信号出现时应该改变？</a:t>
            </a:r>
            <a:endParaRPr lang="en-US" sz="1800" noProof="1"/>
          </a:p>
          <a:p>
            <a:pPr algn="l">
              <a:lnSpc>
                <a:spcPct val="185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能不能教给别人？</a:t>
            </a:r>
            <a:endParaRPr lang="en-US" sz="180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41</a:t>
            </a:r>
            <a:endParaRPr lang="en-US" sz="1100" noProof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第十一章 · 重新理解「经验」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经验其实是一连串判断</a:t>
            </a:r>
            <a:endParaRPr lang="en-US" sz="3000" noProof="1"/>
          </a:p>
        </p:txBody>
      </p:sp>
      <p:sp>
        <p:nvSpPr>
          <p:cNvPr id="5" name="example"/>
          <p:cNvSpPr txBox="1"/>
          <p:nvPr/>
        </p:nvSpPr>
        <p:spPr>
          <a:xfrm>
            <a:off x="660400" y="17780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比如：</a:t>
            </a:r>
            <a:r>
              <a:rPr lang="en-US" sz="2000" noProof="1" b="1">
                <a:solidFill>
                  <a:srgbClr val="2E241B"/>
                </a:solidFill>
                <a:latin typeface="MiSans"/>
                <a:ea typeface="MiSans"/>
              </a:rPr>
              <a:t>「这个项目该不该做？」</a:t>
            </a:r>
            <a:r>
              <a:rPr lang="en-US" sz="2000" noProof="1">
                <a:solidFill>
                  <a:srgbClr val="2E241B"/>
                </a:solidFill>
                <a:latin typeface="MiSans"/>
                <a:ea typeface="MiSans"/>
              </a:rPr>
              <a:t>背后可能是——</a:t>
            </a:r>
            <a:endParaRPr lang="en-US" sz="2000" noProof="1"/>
          </a:p>
        </p:txBody>
      </p:sp>
      <p:sp>
        <p:nvSpPr>
          <p:cNvPr id="6" name="questions"/>
          <p:cNvSpPr txBox="1"/>
          <p:nvPr/>
        </p:nvSpPr>
        <p:spPr>
          <a:xfrm>
            <a:off x="660400" y="2540000"/>
            <a:ext cx="1092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用户是谁？　有没有真实需求？　谁支持？　谁反对？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谁承担风险？　资源够不够？　时机对不对？　出问题怎么办？</a:t>
            </a:r>
            <a:endParaRPr lang="en-US" sz="1700" noProof="1"/>
          </a:p>
        </p:txBody>
      </p:sp>
      <p:sp>
        <p:nvSpPr>
          <p:cNvPr id="7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660400" y="4953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punch"/>
          <p:cNvSpPr txBox="1"/>
          <p:nvPr/>
        </p:nvSpPr>
        <p:spPr>
          <a:xfrm>
            <a:off x="660400" y="53086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8C7B6B"/>
                </a:solidFill>
                <a:latin typeface="MiSans"/>
                <a:ea typeface="MiSans"/>
              </a:rPr>
              <a:t>经验不是「我做过」，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2200" noProof="1" b="1">
                <a:solidFill>
                  <a:srgbClr val="B85C1F"/>
                </a:solidFill>
                <a:latin typeface="MiSans"/>
                <a:ea typeface="MiSans"/>
              </a:rPr>
              <a:t>经验是「我知道为什么这样判断」。</a:t>
            </a:r>
            <a:endParaRPr lang="en-US" sz="1600" noProof="1"/>
          </a:p>
        </p:txBody>
      </p:sp>
      <p:sp>
        <p:nvSpPr>
          <p:cNvPr id="9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42</a:t>
            </a:r>
            <a:endParaRPr lang="en-US" sz="1100" noProof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第十一章 · 重新理解「经验」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经验怎么变成真正的能力？</a:t>
            </a:r>
            <a:endParaRPr lang="en-US" sz="3000" noProof="1"/>
          </a:p>
        </p:txBody>
      </p:sp>
      <p:sp>
        <p:nvSpPr>
          <p:cNvPr id="5" name="chain"/>
          <p:cNvSpPr txBox="1"/>
          <p:nvPr/>
        </p:nvSpPr>
        <p:spPr>
          <a:xfrm>
            <a:off x="762000" y="1778000"/>
            <a:ext cx="5588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经历</a:t>
            </a:r>
            <a:endParaRPr lang="en-US" sz="16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B85C1F"/>
                </a:solidFill>
                <a:latin typeface="MiSans"/>
                <a:ea typeface="MiSans"/>
              </a:rPr>
              <a:t>↓　复盘</a:t>
            </a:r>
            <a:endParaRPr lang="en-US" sz="16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B85C1F"/>
                </a:solidFill>
                <a:latin typeface="MiSans"/>
                <a:ea typeface="MiSans"/>
              </a:rPr>
              <a:t>↓　提炼成数据</a:t>
            </a:r>
            <a:endParaRPr lang="en-US" sz="16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B85C1F"/>
                </a:solidFill>
                <a:latin typeface="MiSans"/>
                <a:ea typeface="MiSans"/>
              </a:rPr>
              <a:t>↓　原则 · 条件 · 边界 · 案例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noProof="1" b="1">
                <a:solidFill>
                  <a:srgbClr val="2E241B"/>
                </a:solidFill>
                <a:latin typeface="MiSans"/>
                <a:ea typeface="MiSans"/>
              </a:rPr>
              <a:t>↓　能教给别人</a:t>
            </a:r>
            <a:endParaRPr lang="en-US" sz="1600" noProof="1"/>
          </a:p>
        </p:txBody>
      </p:sp>
      <p:sp>
        <p:nvSpPr>
          <p:cNvPr id="6" name="vline"/>
          <p:cNvSpPr/>
          <p:nvPr>
            <p:extLst>
              <p:ext uri="{F5677B7D-0D2A-4D9B-9A5C-6D8D7D0E5A5D}">
                <pptd:line encoding="base64url">eyJ2aWV3Qm94IjpbMiwyNzBdLCJwb2ludHMiOiIxLDAgMSwyNzAiLCJjdXJ2ZSI6InNoYXJwIn0</pptd:line>
              </p:ext>
            </p:extLst>
          </p:nvPr>
        </p:nvSpPr>
        <p:spPr>
          <a:xfrm>
            <a:off x="6731000" y="1778000"/>
            <a:ext cx="25400" cy="3429000"/>
          </a:xfrm>
          <a:custGeom>
            <a:avLst/>
            <a:gdLst/>
            <a:ahLst/>
            <a:cxnLst/>
            <a:rect l="l" t="t" r="r" b="b"/>
            <a:pathLst>
              <a:path w="2" h="270">
                <a:moveTo>
                  <a:pt x="1" y="0"/>
                </a:moveTo>
                <a:lnTo>
                  <a:pt x="1" y="27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7" name="org"/>
          <p:cNvSpPr txBox="1"/>
          <p:nvPr/>
        </p:nvSpPr>
        <p:spPr>
          <a:xfrm>
            <a:off x="7239000" y="2032000"/>
            <a:ext cx="44450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5000"/>
              </a:lnSpc>
            </a:pPr>
            <a:r>
              <a:rPr lang="en-US" sz="1300" noProof="1">
                <a:solidFill>
                  <a:srgbClr val="8C7B6B"/>
                </a:solidFill>
                <a:latin typeface="MiSans"/>
                <a:ea typeface="MiSans"/>
              </a:rPr>
              <a:t>再进一步——连接工作台</a:t>
            </a:r>
            <a:endParaRPr lang="en-US" sz="1600" noProof="1"/>
          </a:p>
          <a:p>
            <a:pPr algn="l">
              <a:lnSpc>
                <a:spcPct val="165000"/>
              </a:lnSpc>
              <a:spcBef>
                <a:spcPts val="600"/>
              </a:spcBef>
            </a:pP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个人经验</a:t>
            </a:r>
            <a:endParaRPr lang="en-US" sz="1600" noProof="1"/>
          </a:p>
          <a:p>
            <a:pPr algn="l">
              <a:lnSpc>
                <a:spcPct val="165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团队经验</a:t>
            </a:r>
            <a:endParaRPr lang="en-US" sz="1600" noProof="1"/>
          </a:p>
          <a:p>
            <a:pPr algn="l">
              <a:lnSpc>
                <a:spcPct val="165000"/>
              </a:lnSpc>
            </a:pPr>
            <a:r>
              <a:rPr lang="en-US" sz="1500" noProof="1">
                <a:solidFill>
                  <a:srgbClr val="B85C1F"/>
                </a:solidFill>
                <a:latin typeface="MiSans"/>
                <a:ea typeface="MiSans"/>
              </a:rPr>
              <a:t>↓　组织知识</a:t>
            </a:r>
            <a:endParaRPr lang="en-US" sz="1600" noProof="1"/>
          </a:p>
          <a:p>
            <a:pPr algn="l">
              <a:lnSpc>
                <a:spcPct val="165000"/>
              </a:lnSpc>
            </a:pPr>
            <a:r>
              <a:rPr lang="en-US" sz="1900" noProof="1" b="1">
                <a:solidFill>
                  <a:srgbClr val="B85C1F"/>
                </a:solidFill>
                <a:latin typeface="MiSans"/>
                <a:ea typeface="MiSans"/>
              </a:rPr>
              <a:t>↓　组织能力</a:t>
            </a:r>
            <a:endParaRPr lang="en-US" sz="1600" noProof="1"/>
          </a:p>
        </p:txBody>
      </p:sp>
      <p:sp>
        <p:nvSpPr>
          <p:cNvPr id="8" name="rule"/>
          <p:cNvSpPr/>
          <p:nvPr>
            <p:extLst>
              <p:ext uri="{F5677B7D-0D2A-4D9B-9A5C-6D8D7D0E5A5D}">
                <pptd:line encoding="base64url">eyJ2aWV3Qm94IjpbODQwLDFdLCJwb2ludHMiOiIwLDAuNSA4NDAsMC41IiwiY3VydmUiOiJzaGFycCJ9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9" name="punch"/>
          <p:cNvSpPr txBox="1"/>
          <p:nvPr/>
        </p:nvSpPr>
        <p:spPr>
          <a:xfrm>
            <a:off x="762000" y="56388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没有被重新整理的经验，可能慢慢变成</a:t>
            </a:r>
            <a:r>
              <a:rPr lang="en-US" sz="1700" noProof="1" b="1">
                <a:solidFill>
                  <a:srgbClr val="333333"/>
                </a:solidFill>
                <a:latin typeface="MiSans"/>
                <a:ea typeface="MiSans"/>
              </a:rPr>
              <a:t>负担</a:t>
            </a: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；</a:t>
            </a:r>
            <a:endParaRPr lang="en-US" sz="1700" noProof="1"/>
          </a:p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被提炼出来的经验，才可能真正变成</a:t>
            </a:r>
            <a:r>
              <a:rPr lang="en-US" sz="1700" noProof="1" b="1">
                <a:solidFill>
                  <a:srgbClr val="B85C1F"/>
                </a:solidFill>
                <a:latin typeface="MiSans"/>
                <a:ea typeface="MiSans"/>
              </a:rPr>
              <a:t>能力</a:t>
            </a:r>
            <a:r>
              <a:rPr lang="en-US" sz="1700" noProof="1">
                <a:solidFill>
                  <a:srgbClr val="333333"/>
                </a:solidFill>
                <a:latin typeface="MiSans"/>
                <a:ea typeface="MiSans"/>
              </a:rPr>
              <a:t>。</a:t>
            </a:r>
            <a:endParaRPr lang="en-US" sz="1700" noProof="1"/>
          </a:p>
        </p:txBody>
      </p:sp>
      <p:sp>
        <p:nvSpPr>
          <p:cNvPr id="10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43</a:t>
            </a:r>
            <a:endParaRPr lang="en-US" sz="1100" noProof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第十二章 · 我和AI的关系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914400"/>
            <a:ext cx="1092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2E241B"/>
                </a:solidFill>
                <a:latin typeface="MiSans"/>
                <a:ea typeface="MiSans"/>
              </a:rPr>
              <a:t>AI不是老板，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8C7B6B"/>
                </a:solidFill>
                <a:latin typeface="MiSans"/>
                <a:ea typeface="MiSans"/>
              </a:rPr>
              <a:t>也不是万能答案机器</a:t>
            </a:r>
            <a:endParaRPr lang="en-US" sz="1600" noProof="1"/>
          </a:p>
        </p:txBody>
      </p:sp>
      <p:sp>
        <p:nvSpPr>
          <p:cNvPr id="5" name="ai-label"/>
          <p:cNvSpPr txBox="1"/>
          <p:nvPr/>
        </p:nvSpPr>
        <p:spPr>
          <a:xfrm>
            <a:off x="762000" y="2235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它可以</a:t>
            </a:r>
            <a:endParaRPr lang="en-US" sz="1400" noProof="1"/>
          </a:p>
        </p:txBody>
      </p:sp>
      <p:sp>
        <p:nvSpPr>
          <p:cNvPr id="6" name="ai"/>
          <p:cNvSpPr txBox="1"/>
          <p:nvPr/>
        </p:nvSpPr>
        <p:spPr>
          <a:xfrm>
            <a:off x="762000" y="2616200"/>
            <a:ext cx="5080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教我 · 问我 · 反驳我</a:t>
            </a:r>
            <a:endParaRPr lang="en-US" sz="1700" noProof="1"/>
          </a:p>
          <a:p>
            <a:pPr algn="l">
              <a:lnSpc>
                <a:spcPct val="17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帮我分析 · 帮我写 · 帮我做</a:t>
            </a:r>
            <a:endParaRPr lang="en-US" sz="1700" noProof="1"/>
          </a:p>
          <a:p>
            <a:pPr algn="l">
              <a:lnSpc>
                <a:spcPct val="175000"/>
              </a:lnSpc>
            </a:pPr>
            <a:r>
              <a:rPr lang="en-US" sz="1700" noProof="1">
                <a:solidFill>
                  <a:srgbClr val="2E241B"/>
                </a:solidFill>
                <a:latin typeface="MiSans"/>
                <a:ea typeface="MiSans"/>
              </a:rPr>
              <a:t>帮我编程 · 帮我复盘</a:t>
            </a:r>
            <a:endParaRPr lang="en-US" sz="1700" noProof="1"/>
          </a:p>
        </p:txBody>
      </p:sp>
      <p:sp>
        <p:nvSpPr>
          <p:cNvPr id="7" name="vline"/>
          <p:cNvSpPr/>
          <p:nvPr>
            <p:extLst>
              <p:ext uri="{F5677B7D-0D2A-4D9B-9A5C-6D8D7D0E5A5D}">
                <pptd:line encoding="base64url">eyJ2aWV3Qm94IjpbMiwyMjBdLCJwb2ludHMiOiIxLDAgMSwyMjAiLCJjdXJ2ZSI6InNoYXJwIn0</pptd:line>
              </p:ext>
            </p:extLst>
          </p:nvPr>
        </p:nvSpPr>
        <p:spPr>
          <a:xfrm>
            <a:off x="6070600" y="2235200"/>
            <a:ext cx="25400" cy="2794000"/>
          </a:xfrm>
          <a:custGeom>
            <a:avLst/>
            <a:gdLst/>
            <a:ahLst/>
            <a:cxnLst/>
            <a:rect l="l" t="t" r="r" b="b"/>
            <a:pathLst>
              <a:path w="2" h="220">
                <a:moveTo>
                  <a:pt x="1" y="0"/>
                </a:moveTo>
                <a:lnTo>
                  <a:pt x="1" y="220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8" name="me-label"/>
          <p:cNvSpPr txBox="1"/>
          <p:nvPr/>
        </p:nvSpPr>
        <p:spPr>
          <a:xfrm>
            <a:off x="6604000" y="2235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但是</a:t>
            </a:r>
            <a:endParaRPr lang="en-US" sz="1400" noProof="1"/>
          </a:p>
        </p:txBody>
      </p:sp>
      <p:sp>
        <p:nvSpPr>
          <p:cNvPr id="9" name="me"/>
          <p:cNvSpPr txBox="1"/>
          <p:nvPr/>
        </p:nvSpPr>
        <p:spPr>
          <a:xfrm>
            <a:off x="6604000" y="2616200"/>
            <a:ext cx="5207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方向由我决定</a:t>
            </a:r>
            <a:endParaRPr lang="en-US" sz="1800" noProof="1"/>
          </a:p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经验由我提供</a:t>
            </a:r>
            <a:endParaRPr lang="en-US" sz="1800" noProof="1"/>
          </a:p>
          <a:p>
            <a:pPr algn="l">
              <a:lnSpc>
                <a:spcPct val="175000"/>
              </a:lnSpc>
            </a:pPr>
            <a:r>
              <a:rPr lang="en-US" sz="1800" noProof="1">
                <a:solidFill>
                  <a:srgbClr val="2E241B"/>
                </a:solidFill>
                <a:latin typeface="MiSans"/>
                <a:ea typeface="MiSans"/>
              </a:rPr>
              <a:t>结果由我判断</a:t>
            </a:r>
            <a:endParaRPr lang="en-US" sz="1800" noProof="1"/>
          </a:p>
          <a:p>
            <a:pPr algn="l">
              <a:lnSpc>
                <a:spcPct val="175000"/>
              </a:lnSpc>
            </a:pPr>
            <a:r>
              <a:rPr lang="en-US" sz="1800" noProof="1" b="1">
                <a:solidFill>
                  <a:srgbClr val="2E241B"/>
                </a:solidFill>
                <a:latin typeface="MiSans"/>
                <a:ea typeface="MiSans"/>
              </a:rPr>
              <a:t>责任由我承担</a:t>
            </a:r>
            <a:endParaRPr lang="en-US" sz="1800" noProof="1"/>
          </a:p>
        </p:txBody>
      </p:sp>
      <p:sp>
        <p:nvSpPr>
          <p:cNvPr id="10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44</a:t>
            </a:r>
            <a:endParaRPr lang="en-US" sz="1100" noProof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r"/>
          <p:cNvSpPr/>
          <p:nvPr/>
        </p:nvSpPr>
        <p:spPr>
          <a:xfrm>
            <a:off x="609600" y="508000"/>
            <a:ext cx="50800" cy="279400"/>
          </a:xfrm>
          <a:prstGeom prst="rect">
            <a:avLst/>
          </a:prstGeom>
          <a:solidFill>
            <a:srgbClr val="B85C1F"/>
          </a:solidFill>
          <a:ln>
            <a:noFill/>
          </a:ln>
        </p:spPr>
      </p:sp>
      <p:sp>
        <p:nvSpPr>
          <p:cNvPr id="3" name="tag"/>
          <p:cNvSpPr txBox="1"/>
          <p:nvPr/>
        </p:nvSpPr>
        <p:spPr>
          <a:xfrm>
            <a:off x="812800" y="50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第十二章 · 我这一年真正发生的变化</a:t>
            </a:r>
            <a:endParaRPr lang="en-US" sz="1100" noProof="1"/>
          </a:p>
        </p:txBody>
      </p:sp>
      <p:sp>
        <p:nvSpPr>
          <p:cNvPr id="4" name="past-label"/>
          <p:cNvSpPr txBox="1"/>
          <p:nvPr/>
        </p:nvSpPr>
        <p:spPr>
          <a:xfrm>
            <a:off x="508000" y="1066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8C7B6B"/>
                </a:solidFill>
                <a:latin typeface="MiSans"/>
                <a:ea typeface="MiSans"/>
              </a:rPr>
              <a:t>过去</a:t>
            </a:r>
            <a:endParaRPr lang="en-US" sz="1400" noProof="1"/>
          </a:p>
        </p:txBody>
      </p:sp>
      <p:sp>
        <p:nvSpPr>
          <p:cNvPr id="5" name="past"/>
          <p:cNvSpPr txBox="1"/>
          <p:nvPr/>
        </p:nvSpPr>
        <p:spPr>
          <a:xfrm>
            <a:off x="508000" y="1447800"/>
            <a:ext cx="3556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学AI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玩AI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做功能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觉得很兴奋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8C7B6B"/>
                </a:solidFill>
                <a:latin typeface="MiSans"/>
                <a:ea typeface="MiSans"/>
              </a:rPr>
              <a:t>↓　为什么没人付钱？</a:t>
            </a:r>
            <a:endParaRPr lang="en-US" sz="1500" noProof="1"/>
          </a:p>
        </p:txBody>
      </p:sp>
      <p:sp>
        <p:nvSpPr>
          <p:cNvPr id="6" name="refl-label"/>
          <p:cNvSpPr txBox="1"/>
          <p:nvPr/>
        </p:nvSpPr>
        <p:spPr>
          <a:xfrm>
            <a:off x="4445000" y="1066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反思</a:t>
            </a:r>
            <a:endParaRPr lang="en-US" sz="1400" noProof="1"/>
          </a:p>
        </p:txBody>
      </p:sp>
      <p:sp>
        <p:nvSpPr>
          <p:cNvPr id="7" name="refl"/>
          <p:cNvSpPr txBox="1"/>
          <p:nvPr/>
        </p:nvSpPr>
        <p:spPr>
          <a:xfrm>
            <a:off x="4445000" y="1447800"/>
            <a:ext cx="3556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用户是谁？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真正痛点是什么？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完整问题是什么？</a:t>
            </a:r>
            <a:endParaRPr lang="en-US" sz="1500" noProof="1"/>
          </a:p>
          <a:p>
            <a:pPr algn="l">
              <a:lnSpc>
                <a:spcPct val="175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用户愿不愿意付钱？</a:t>
            </a:r>
            <a:endParaRPr lang="en-US" sz="1500" noProof="1"/>
          </a:p>
        </p:txBody>
      </p:sp>
      <p:sp>
        <p:nvSpPr>
          <p:cNvPr id="8" name="now-label"/>
          <p:cNvSpPr txBox="1"/>
          <p:nvPr/>
        </p:nvSpPr>
        <p:spPr>
          <a:xfrm>
            <a:off x="8382000" y="1066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85C1F"/>
                </a:solidFill>
                <a:latin typeface="MiSans"/>
                <a:ea typeface="MiSans"/>
              </a:rPr>
              <a:t>现在</a:t>
            </a:r>
            <a:endParaRPr lang="en-US" sz="1400" noProof="1"/>
          </a:p>
        </p:txBody>
      </p:sp>
      <p:sp>
        <p:nvSpPr>
          <p:cNvPr id="9" name="now"/>
          <p:cNvSpPr txBox="1"/>
          <p:nvPr/>
        </p:nvSpPr>
        <p:spPr>
          <a:xfrm>
            <a:off x="8382000" y="1447800"/>
            <a:ext cx="3556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真实工作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真实问题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AI辅助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做出原型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>
                <a:solidFill>
                  <a:srgbClr val="2E241B"/>
                </a:solidFill>
                <a:latin typeface="MiSans"/>
                <a:ea typeface="MiSans"/>
              </a:rPr>
              <a:t>↓　验证 · 迭代</a:t>
            </a:r>
            <a:endParaRPr lang="en-US" sz="1500" noProof="1"/>
          </a:p>
          <a:p>
            <a:pPr algn="l">
              <a:lnSpc>
                <a:spcPct val="170000"/>
              </a:lnSpc>
            </a:pPr>
            <a:r>
              <a:rPr lang="en-US" sz="1500" noProof="1" b="1">
                <a:solidFill>
                  <a:srgbClr val="2E241B"/>
                </a:solidFill>
                <a:latin typeface="MiSans"/>
                <a:ea typeface="MiSans"/>
              </a:rPr>
              <a:t>↓　做成真正有价值的东西</a:t>
            </a:r>
            <a:endParaRPr lang="en-US" sz="1500" noProof="1"/>
          </a:p>
        </p:txBody>
      </p:sp>
      <p:sp>
        <p:nvSpPr>
          <p:cNvPr id="10" name="arrow1"/>
          <p:cNvSpPr/>
          <p:nvPr>
            <p:extLst>
              <p:ext uri="{F5677B7D-0D2A-4D9B-9A5C-6D8D7D0E5A5D}">
                <pptd:line encoding="base64url">eyJ2aWV3Qm94IjpbMjYsMjBdLCJwb2ludHMiOiIwLDEwIDI2LDEwIiwiY3VydmUiOiJzaGFycCJ9</pptd:line>
              </p:ext>
            </p:extLst>
          </p:nvPr>
        </p:nvSpPr>
        <p:spPr>
          <a:xfrm>
            <a:off x="4064000" y="3429000"/>
            <a:ext cx="330200" cy="254000"/>
          </a:xfrm>
          <a:custGeom>
            <a:avLst/>
            <a:gdLst/>
            <a:ahLst/>
            <a:cxnLst/>
            <a:rect l="l" t="t" r="r" b="b"/>
            <a:pathLst>
              <a:path w="26" h="20">
                <a:moveTo>
                  <a:pt x="0" y="10"/>
                </a:moveTo>
                <a:lnTo>
                  <a:pt x="26" y="10"/>
                </a:lnTo>
              </a:path>
            </a:pathLst>
          </a:custGeom>
          <a:noFill/>
          <a:ln w="25400">
            <a:solidFill>
              <a:srgbClr val="B85C1F"/>
            </a:solidFill>
            <a:tailEnd type="arrow"/>
          </a:ln>
        </p:spPr>
      </p:sp>
      <p:sp>
        <p:nvSpPr>
          <p:cNvPr id="11" name="arrow2"/>
          <p:cNvSpPr/>
          <p:nvPr>
            <p:extLst>
              <p:ext uri="{F5677B7D-0D2A-4D9B-9A5C-6D8D7D0E5A5D}">
                <pptd:line encoding="base64url">eyJ2aWV3Qm94IjpbMjYsMjBdLCJwb2ludHMiOiIwLDEwIDI2LDEwIiwiY3VydmUiOiJzaGFycCJ9</pptd:line>
              </p:ext>
            </p:extLst>
          </p:nvPr>
        </p:nvSpPr>
        <p:spPr>
          <a:xfrm>
            <a:off x="8001000" y="3429000"/>
            <a:ext cx="330200" cy="254000"/>
          </a:xfrm>
          <a:custGeom>
            <a:avLst/>
            <a:gdLst/>
            <a:ahLst/>
            <a:cxnLst/>
            <a:rect l="l" t="t" r="r" b="b"/>
            <a:pathLst>
              <a:path w="26" h="20">
                <a:moveTo>
                  <a:pt x="0" y="10"/>
                </a:moveTo>
                <a:lnTo>
                  <a:pt x="26" y="10"/>
                </a:lnTo>
              </a:path>
            </a:pathLst>
          </a:custGeom>
          <a:noFill/>
          <a:ln w="25400">
            <a:solidFill>
              <a:srgbClr val="B85C1F"/>
            </a:solidFill>
            <a:tailEnd type="arrow"/>
          </a:ln>
        </p:spPr>
      </p:sp>
      <p:sp>
        <p:nvSpPr>
          <p:cNvPr id="12" name="pagenum"/>
          <p:cNvSpPr txBox="1"/>
          <p:nvPr/>
        </p:nvSpPr>
        <p:spPr>
          <a:xfrm>
            <a:off x="11176000" y="635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spc="200" kern="0">
                <a:solidFill>
                  <a:srgbClr val="8C7B6B"/>
                </a:solidFill>
                <a:latin typeface="MiSans"/>
                <a:ea typeface="MiSans"/>
              </a:rPr>
              <a:t>45</a:t>
            </a:r>
            <a:endParaRPr lang="en-US" sz="1100" noProof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1143000" y="1270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FAF4EA">
                    <a:alpha val="73333"/>
                  </a:srgbClr>
                </a:solidFill>
                <a:latin typeface="MiSans"/>
                <a:ea typeface="MiSans"/>
              </a:rPr>
              <a:t>我最后终于明白，我为什么喜欢折腾AI——</a:t>
            </a:r>
            <a:endParaRPr lang="en-US" sz="2400" noProof="1"/>
          </a:p>
        </p:txBody>
      </p:sp>
      <p:sp>
        <p:nvSpPr>
          <p:cNvPr id="3" name="big"/>
          <p:cNvSpPr txBox="1"/>
          <p:nvPr/>
        </p:nvSpPr>
        <p:spPr>
          <a:xfrm>
            <a:off x="1143000" y="2286000"/>
            <a:ext cx="9906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800" noProof="1">
                <a:solidFill>
                  <a:srgbClr val="FAF4EA"/>
                </a:solidFill>
                <a:latin typeface="MiSans"/>
                <a:ea typeface="MiSans"/>
              </a:rPr>
              <a:t>因为AI让我重新拥有了一种能力：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4200" noProof="1" b="1">
                <a:solidFill>
                  <a:srgbClr val="B85C1F"/>
                </a:solidFill>
                <a:latin typeface="MiSans"/>
                <a:ea typeface="MiSans"/>
              </a:rPr>
              <a:t>把想法变成现实。</a:t>
            </a:r>
            <a:endParaRPr lang="en-US" sz="1600" noProof="1"/>
          </a:p>
        </p:txBody>
      </p:sp>
      <p:sp>
        <p:nvSpPr>
          <p:cNvPr id="4" name="body"/>
          <p:cNvSpPr txBox="1"/>
          <p:nvPr/>
        </p:nvSpPr>
        <p:spPr>
          <a:xfrm>
            <a:off x="1193800" y="4445000"/>
            <a:ext cx="965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以前我有经验，但很多东西做不出来；现在AI让我可以先做出来。</a:t>
            </a:r>
            <a:endParaRPr lang="en-US" sz="1700" noProof="1"/>
          </a:p>
          <a:p>
            <a:pPr algn="l">
              <a:lnSpc>
                <a:spcPct val="185000"/>
              </a:lnSpc>
            </a:pPr>
            <a:r>
              <a:rPr lang="en-US" sz="1700" noProof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做出来以后，我又可以重新审视：</a:t>
            </a:r>
            <a:r>
              <a:rPr lang="en-US" sz="1700" noProof="1" b="1">
                <a:solidFill>
                  <a:srgbClr val="FAF4EA">
                    <a:alpha val="80000"/>
                  </a:srgbClr>
                </a:solidFill>
                <a:latin typeface="MiSans"/>
                <a:ea typeface="MiSans"/>
              </a:rPr>
              <a:t>这个东西到底有没有价值？</a:t>
            </a:r>
            <a:endParaRPr lang="en-US" sz="1700" noProof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s"/>
          <p:cNvSpPr txBox="1"/>
          <p:nvPr/>
        </p:nvSpPr>
        <p:spPr>
          <a:xfrm>
            <a:off x="1016000" y="889000"/>
            <a:ext cx="101600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200" noProof="1" b="1">
                <a:solidFill>
                  <a:srgbClr val="2E241B"/>
                </a:solidFill>
                <a:latin typeface="MiSans"/>
                <a:ea typeface="MiSans"/>
              </a:rPr>
              <a:t>先别急着学AI。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lang="en-US" sz="2600" noProof="1">
                <a:solidFill>
                  <a:srgbClr val="2E241B"/>
                </a:solidFill>
                <a:latin typeface="MiSans"/>
                <a:ea typeface="MiSans"/>
              </a:rPr>
              <a:t>先找一个你</a:t>
            </a:r>
            <a:r>
              <a:rPr lang="en-US" sz="2600" noProof="1" b="1">
                <a:solidFill>
                  <a:srgbClr val="2E241B"/>
                </a:solidFill>
                <a:latin typeface="MiSans"/>
                <a:ea typeface="MiSans"/>
              </a:rPr>
              <a:t>真正想解决的问题</a:t>
            </a:r>
            <a:r>
              <a:rPr lang="en-US" sz="2600" noProof="1">
                <a:solidFill>
                  <a:srgbClr val="2E241B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lang="en-US" sz="2600" noProof="1" b="1">
                <a:solidFill>
                  <a:srgbClr val="B85C1F"/>
                </a:solidFill>
                <a:latin typeface="MiSans"/>
                <a:ea typeface="MiSans"/>
              </a:rPr>
              <a:t>然后，和AI一起试。</a:t>
            </a:r>
            <a:endParaRPr lang="en-US" sz="1600" noProof="1"/>
          </a:p>
        </p:txBody>
      </p:sp>
      <p:sp>
        <p:nvSpPr>
          <p:cNvPr id="3" name="rule"/>
          <p:cNvSpPr/>
          <p:nvPr>
            <p:extLst>
              <p:ext uri="{F5677B7D-0D2A-4D9B-9A5C-6D8D7D0E5A5D}">
                <pptd:line encoding="base64url">eyJ2aWV3Qm94IjpbNzkyLDFdLCJwb2ludHMiOiIwLDAuNSA3OTIsMC41IiwiY3VydmUiOiJzaGFycCJ9</pptd:line>
              </p:ext>
            </p:extLst>
          </p:nvPr>
        </p:nvSpPr>
        <p:spPr>
          <a:xfrm>
            <a:off x="1066800" y="4191000"/>
            <a:ext cx="10058400" cy="12700"/>
          </a:xfrm>
          <a:custGeom>
            <a:avLst/>
            <a:gdLst/>
            <a:ahLst/>
            <a:cxnLst/>
            <a:rect l="l" t="t" r="r" b="b"/>
            <a:pathLst>
              <a:path w="792" h="1">
                <a:moveTo>
                  <a:pt x="0" y="1"/>
                </a:moveTo>
                <a:lnTo>
                  <a:pt x="792" y="1"/>
                </a:lnTo>
              </a:path>
            </a:pathLst>
          </a:custGeom>
          <a:noFill/>
          <a:ln w="12700">
            <a:solidFill>
              <a:srgbClr val="DDD0BE"/>
            </a:solidFill>
          </a:ln>
        </p:spPr>
      </p:sp>
      <p:sp>
        <p:nvSpPr>
          <p:cNvPr id="4" name="quote"/>
          <p:cNvSpPr txBox="1"/>
          <p:nvPr/>
        </p:nvSpPr>
        <p:spPr>
          <a:xfrm>
            <a:off x="1066800" y="447040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AI不是替我变聪明，</a:t>
            </a:r>
            <a:endParaRPr lang="en-US" sz="1900" noProof="1"/>
          </a:p>
          <a:p>
            <a:pPr algn="l">
              <a:lnSpc>
                <a:spcPct val="170000"/>
              </a:lnSpc>
            </a:pP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而是让我以前很多只能想一想的东西，</a:t>
            </a:r>
            <a:r>
              <a:rPr lang="en-US" sz="1900" noProof="1" b="1">
                <a:solidFill>
                  <a:srgbClr val="2E241B"/>
                </a:solidFill>
                <a:latin typeface="MiSans"/>
                <a:ea typeface="MiSans"/>
              </a:rPr>
              <a:t>真的有机会做出来</a:t>
            </a:r>
            <a:r>
              <a:rPr lang="en-US" sz="1900" noProof="1">
                <a:solidFill>
                  <a:srgbClr val="2E241B"/>
                </a:solidFill>
                <a:latin typeface="MiSans"/>
                <a:ea typeface="MiSans"/>
              </a:rPr>
              <a:t>。</a:t>
            </a:r>
            <a:endParaRPr lang="en-US" sz="1900" noProof="1"/>
          </a:p>
        </p:txBody>
      </p:sp>
      <p:sp>
        <p:nvSpPr>
          <p:cNvPr id="5" name="final"/>
          <p:cNvSpPr txBox="1"/>
          <p:nvPr/>
        </p:nvSpPr>
        <p:spPr>
          <a:xfrm>
            <a:off x="1066800" y="5969000"/>
            <a:ext cx="10058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B85C1F"/>
                </a:solidFill>
                <a:latin typeface="MiSans"/>
                <a:ea typeface="MiSans"/>
              </a:rPr>
              <a:t>46岁，AI让我重新发现自己。</a:t>
            </a:r>
            <a:endParaRPr lang="en-US" sz="2000" noProof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项目三 · 健康AI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F81F7"/>
                </a:solidFill>
              </a:rPr>
              <a:t>https://health.digitalmind.chat/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17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把多年体检报告放一起，看趋势、找重复问题</a:t>
            </a:r>
          </a:p>
        </p:txBody>
      </p:sp>
      <p:pic>
        <p:nvPicPr>
          <p:cNvPr id="5" name="Picture 4" descr="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88136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项目二 · 门店AI诊断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F81F7"/>
                </a:solidFill>
              </a:rPr>
              <a:t>https://dianpu.digitalmind.chat/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17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数据 → 证据 → 诊断 → 优先级 → 方案 → 行动</a:t>
            </a:r>
          </a:p>
        </p:txBody>
      </p:sp>
      <p:pic>
        <p:nvPicPr>
          <p:cNvPr id="5" name="Picture 4" descr="dian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88136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项目一 · 部门工作台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F81F7"/>
                </a:solidFill>
              </a:rPr>
              <a:t>https://workbench.digitalmind.chat/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17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今天要盯的N件事 · A级问题池 · 发起人+负责人双向可见</a:t>
            </a:r>
          </a:p>
        </p:txBody>
      </p:sp>
      <p:pic>
        <p:nvPicPr>
          <p:cNvPr id="5" name="Picture 4" descr="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881360" cy="6839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40</Slides>
</Properties>
</file>

<file path=docProps/core.xml><?xml version="1.0" encoding="utf-8"?>
<cp:coreProperties xmlns:dc="http://purl.org/dc/elements/1.1/" xmlns:cp="http://schemas.openxmlformats.org/package/2006/metadata/core-properties">
  <dc:title>46岁，我为什么开始和AI一起折腾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